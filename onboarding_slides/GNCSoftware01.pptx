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0" r:id="rId3"/>
    <p:sldId id="257" r:id="rId4"/>
    <p:sldId id="261" r:id="rId5"/>
    <p:sldId id="259" r:id="rId6"/>
    <p:sldId id="264" r:id="rId7"/>
    <p:sldId id="274" r:id="rId8"/>
    <p:sldId id="258" r:id="rId9"/>
    <p:sldId id="273" r:id="rId10"/>
    <p:sldId id="275" r:id="rId11"/>
    <p:sldId id="260" r:id="rId12"/>
    <p:sldId id="276" r:id="rId13"/>
    <p:sldId id="262" r:id="rId14"/>
    <p:sldId id="271" r:id="rId15"/>
    <p:sldId id="263" r:id="rId16"/>
    <p:sldId id="266" r:id="rId17"/>
    <p:sldId id="267" r:id="rId18"/>
    <p:sldId id="268" r:id="rId19"/>
    <p:sldId id="269" r:id="rId20"/>
    <p:sldId id="272" r:id="rId21"/>
    <p:sldId id="277" r:id="rId22"/>
    <p:sldId id="278" r:id="rId23"/>
    <p:sldId id="26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0CB310-232B-CF46-B79F-0ED4B293C90D}">
          <p14:sldIdLst>
            <p14:sldId id="256"/>
            <p14:sldId id="270"/>
            <p14:sldId id="257"/>
            <p14:sldId id="261"/>
            <p14:sldId id="259"/>
            <p14:sldId id="264"/>
            <p14:sldId id="274"/>
            <p14:sldId id="258"/>
            <p14:sldId id="273"/>
            <p14:sldId id="275"/>
            <p14:sldId id="260"/>
            <p14:sldId id="276"/>
            <p14:sldId id="262"/>
            <p14:sldId id="271"/>
            <p14:sldId id="263"/>
            <p14:sldId id="266"/>
            <p14:sldId id="267"/>
            <p14:sldId id="268"/>
            <p14:sldId id="269"/>
            <p14:sldId id="272"/>
            <p14:sldId id="277"/>
            <p14:sldId id="278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brew.s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gatech.edu/gnc/software-onboardin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-c.org/" TargetMode="External"/><Relationship Id="rId2" Type="http://schemas.openxmlformats.org/officeDocument/2006/relationships/hyperlink" Target="https://learngitbranching.js.or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0EEF-D217-CF37-1BFA-ACF999C25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138" y="2404534"/>
            <a:ext cx="8460828" cy="1646302"/>
          </a:xfrm>
        </p:spPr>
        <p:txBody>
          <a:bodyPr/>
          <a:lstStyle/>
          <a:p>
            <a:r>
              <a:rPr lang="en-US" dirty="0"/>
              <a:t>C Software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40DC9-018F-8062-73E9-856B18D0D2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GNC Software Onboarding Lecture #1</a:t>
            </a:r>
          </a:p>
        </p:txBody>
      </p:sp>
    </p:spTree>
    <p:extLst>
      <p:ext uri="{BB962C8B-B14F-4D97-AF65-F5344CB8AC3E}">
        <p14:creationId xmlns:p14="http://schemas.microsoft.com/office/powerpoint/2010/main" val="421659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78E4C1-3E47-B5ED-FBCD-A293A4F6E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Hello, World!</a:t>
            </a:r>
          </a:p>
        </p:txBody>
      </p:sp>
      <p:pic>
        <p:nvPicPr>
          <p:cNvPr id="13" name="Content Placeholder 1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60F0428-D452-475C-EBC5-3AC5BF0FC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968" y="1668162"/>
            <a:ext cx="8770980" cy="2565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87A0FC-AB09-3F71-3D7B-981E2B502464}"/>
              </a:ext>
            </a:extLst>
          </p:cNvPr>
          <p:cNvSpPr txBox="1"/>
          <p:nvPr/>
        </p:nvSpPr>
        <p:spPr>
          <a:xfrm>
            <a:off x="1091123" y="4346763"/>
            <a:ext cx="243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i="1" dirty="0" err="1"/>
              <a:t>hello_world.c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24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3274-1CF8-E926-97AA-A49CE604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338"/>
          </a:xfrm>
        </p:spPr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960A5-8BEE-BC88-2A21-287849960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1938"/>
            <a:ext cx="6448680" cy="52476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Numeric</a:t>
            </a:r>
          </a:p>
          <a:p>
            <a:pPr lvl="1"/>
            <a:r>
              <a:rPr lang="en-US" dirty="0"/>
              <a:t>(unsigned/signed) int, char, long</a:t>
            </a:r>
          </a:p>
          <a:p>
            <a:pPr lvl="1"/>
            <a:r>
              <a:rPr lang="en-US" dirty="0"/>
              <a:t>float/double</a:t>
            </a:r>
          </a:p>
          <a:p>
            <a:r>
              <a:rPr lang="en-US" dirty="0"/>
              <a:t>Arrays</a:t>
            </a:r>
          </a:p>
          <a:p>
            <a:pPr lvl="1"/>
            <a:r>
              <a:rPr lang="en-US" dirty="0"/>
              <a:t>Use brackets [N], where N is the size of the array</a:t>
            </a:r>
          </a:p>
          <a:p>
            <a:r>
              <a:rPr lang="en-US" dirty="0"/>
              <a:t>Text</a:t>
            </a:r>
          </a:p>
          <a:p>
            <a:pPr lvl="1"/>
            <a:r>
              <a:rPr lang="en-US" dirty="0"/>
              <a:t>Char - Single character using the ASCII standard</a:t>
            </a:r>
          </a:p>
          <a:p>
            <a:pPr lvl="1"/>
            <a:r>
              <a:rPr lang="en-US" dirty="0"/>
              <a:t>Strings are represented as lists of chars with a special null (‘\0’) character at the end to indicate the string end</a:t>
            </a:r>
          </a:p>
          <a:p>
            <a:r>
              <a:rPr lang="en-US" dirty="0"/>
              <a:t>Structs</a:t>
            </a:r>
          </a:p>
          <a:p>
            <a:pPr lvl="1"/>
            <a:r>
              <a:rPr lang="en-US" dirty="0"/>
              <a:t>A struct is a structured collection of the primary data types mentioned above</a:t>
            </a:r>
          </a:p>
          <a:p>
            <a:pPr lvl="1"/>
            <a:r>
              <a:rPr lang="en-US" dirty="0"/>
              <a:t>You can access a member of a struct using the “.” character</a:t>
            </a:r>
          </a:p>
          <a:p>
            <a:pPr lvl="2"/>
            <a:r>
              <a:rPr lang="en-US" dirty="0"/>
              <a:t>Ex. </a:t>
            </a:r>
            <a:r>
              <a:rPr lang="en-US" dirty="0" err="1"/>
              <a:t>my_struct.x</a:t>
            </a:r>
            <a:r>
              <a:rPr lang="en-US" dirty="0"/>
              <a:t> or </a:t>
            </a:r>
            <a:r>
              <a:rPr lang="en-US" dirty="0" err="1"/>
              <a:t>my_struct.y</a:t>
            </a:r>
            <a:endParaRPr lang="en-US" dirty="0"/>
          </a:p>
          <a:p>
            <a:r>
              <a:rPr lang="en-US" dirty="0"/>
              <a:t>Prepending a data type with the keyword ‘const’ makes it a constant</a:t>
            </a:r>
          </a:p>
          <a:p>
            <a:r>
              <a:rPr lang="en-US" dirty="0"/>
              <a:t>Demo: </a:t>
            </a:r>
            <a:r>
              <a:rPr lang="en-US" i="1" dirty="0" err="1"/>
              <a:t>datatypes.c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8" name="Picture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04B5FFAF-C30C-17E4-CC92-21818F8A3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809" y="298451"/>
            <a:ext cx="44323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4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screen with white text and numbers&#10;&#10;Description automatically generated">
            <a:extLst>
              <a:ext uri="{FF2B5EF4-FFF2-40B4-BE49-F238E27FC236}">
                <a16:creationId xmlns:a16="http://schemas.microsoft.com/office/drawing/2014/main" id="{B92752BD-9DC1-2340-C780-B01935C2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867606"/>
            <a:ext cx="2483779" cy="1005930"/>
          </a:xfrm>
          <a:prstGeom prst="rect">
            <a:avLst/>
          </a:prstGeom>
        </p:spPr>
      </p:pic>
      <p:pic>
        <p:nvPicPr>
          <p:cNvPr id="11" name="Picture 10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B363763E-467D-22BB-CAE8-CC8DC3FF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978" y="1296299"/>
            <a:ext cx="2483778" cy="2148544"/>
          </a:xfrm>
          <a:prstGeom prst="rect">
            <a:avLst/>
          </a:prstGeom>
        </p:spPr>
      </p:pic>
      <p:pic>
        <p:nvPicPr>
          <p:cNvPr id="7" name="Picture 6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0C0196AB-B227-99BF-4BD0-FF41B988F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89" y="1529292"/>
            <a:ext cx="2483778" cy="1682559"/>
          </a:xfrm>
          <a:prstGeom prst="rect">
            <a:avLst/>
          </a:prstGeom>
        </p:spPr>
      </p:pic>
      <p:pic>
        <p:nvPicPr>
          <p:cNvPr id="9" name="Picture 8" descr="A computer screen with text&#10;&#10;Description automatically generated">
            <a:extLst>
              <a:ext uri="{FF2B5EF4-FFF2-40B4-BE49-F238E27FC236}">
                <a16:creationId xmlns:a16="http://schemas.microsoft.com/office/drawing/2014/main" id="{F73CC6ED-592C-1C73-43F9-B1E183042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999" y="1225454"/>
            <a:ext cx="2483777" cy="2290235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A5C257D-7CC1-C687-BE9F-4DECA3B6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8685" y="4814595"/>
            <a:ext cx="4531807" cy="1563899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C2DED-00E5-912D-5EB2-9152EA49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11501"/>
            <a:ext cx="4441743" cy="1563899"/>
          </a:xfrm>
        </p:spPr>
        <p:txBody>
          <a:bodyPr anchor="ctr">
            <a:normAutofit/>
          </a:bodyPr>
          <a:lstStyle/>
          <a:p>
            <a:r>
              <a:rPr lang="en-US"/>
              <a:t>Control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12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DFA5-FC20-D6A8-CF2D-EC6F7AE8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02BF-4D7F-5B4B-7237-B11D9EDF4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dirty="0"/>
              <a:t>&lt;Return Type&gt; &lt;Function Name&gt; (&lt;Parameter 1&gt;, &lt;Parameter 2&gt;, …) {}</a:t>
            </a:r>
          </a:p>
          <a:p>
            <a:r>
              <a:rPr lang="en-US" dirty="0"/>
              <a:t>To call a function, use the function name with parameters in parenthesis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9A9D2-ED09-5E3A-116C-784156699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36" y="3655883"/>
            <a:ext cx="4608212" cy="2732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C0B6C7-BC75-FEA4-0B30-DD582E73E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459" y="3938202"/>
            <a:ext cx="5627207" cy="197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3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0B951-2281-5980-55D3-B3E2CBAD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BD8D-2FA7-EE40-68C9-61AF1F8D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Function Prototypes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09EA1-D5A2-920A-D114-DF54CB8E9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r>
              <a:rPr lang="en-US" dirty="0"/>
              <a:t>The C compiler works top-to-bottom</a:t>
            </a:r>
          </a:p>
          <a:p>
            <a:pPr lvl="1"/>
            <a:r>
              <a:rPr lang="en-US" dirty="0"/>
              <a:t>If you define a function on line 7 and try to use it on line 4, the compiler won’t know what function you are talking about</a:t>
            </a:r>
          </a:p>
          <a:p>
            <a:r>
              <a:rPr lang="en-US" dirty="0"/>
              <a:t>Function prototypes solve this problem by defining the input parameters and return type of the function without actually defining the body of the function</a:t>
            </a:r>
          </a:p>
          <a:p>
            <a:r>
              <a:rPr lang="en-US" dirty="0"/>
              <a:t>Demo: </a:t>
            </a:r>
            <a:r>
              <a:rPr lang="en-US" i="1" dirty="0" err="1"/>
              <a:t>functions.c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14AABF8-F7D6-962C-27FD-BB70BBCF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416" y="2158999"/>
            <a:ext cx="4662961" cy="372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9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D6174-12AD-261A-EE10-8D87D7DE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4DD6B-0D2E-BFD1-6A4F-D227BCAE7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89"/>
            <a:ext cx="3973943" cy="405394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Denoted by a * after the type name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When you create a variable, think of it being stored on a “location” in your computer (called a memory address)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A </a:t>
            </a:r>
            <a:r>
              <a:rPr lang="en-US" sz="1700" b="1" dirty="0">
                <a:solidFill>
                  <a:schemeClr val="bg1"/>
                </a:solidFill>
              </a:rPr>
              <a:t>pointer</a:t>
            </a:r>
            <a:r>
              <a:rPr lang="en-US" sz="1700" dirty="0">
                <a:solidFill>
                  <a:schemeClr val="bg1"/>
                </a:solidFill>
              </a:rPr>
              <a:t> is a number that specifies </a:t>
            </a:r>
            <a:r>
              <a:rPr lang="en-US" sz="1700" u="sng" dirty="0">
                <a:solidFill>
                  <a:schemeClr val="bg1"/>
                </a:solidFill>
              </a:rPr>
              <a:t>where</a:t>
            </a:r>
            <a:r>
              <a:rPr lang="en-US" sz="1700" dirty="0">
                <a:solidFill>
                  <a:schemeClr val="bg1"/>
                </a:solidFill>
              </a:rPr>
              <a:t> a value is stored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Use the &amp; symbol to create a pointer that points to a variable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Use the * symbol to access or modify the value the pointer points to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bg1"/>
                </a:solidFill>
              </a:rPr>
              <a:t>This is called </a:t>
            </a:r>
            <a:r>
              <a:rPr lang="en-US" sz="1500" b="1" dirty="0">
                <a:solidFill>
                  <a:schemeClr val="bg1"/>
                </a:solidFill>
              </a:rPr>
              <a:t>dereferencing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chemeClr val="bg1"/>
                </a:solidFill>
              </a:rPr>
              <a:t>Demo: </a:t>
            </a:r>
            <a:r>
              <a:rPr lang="en-US" sz="1700" i="1" dirty="0" err="1">
                <a:solidFill>
                  <a:schemeClr val="bg1"/>
                </a:solidFill>
              </a:rPr>
              <a:t>pointers.c</a:t>
            </a:r>
            <a:endParaRPr lang="en-US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9" name="Picture 8" descr="A computer screen shot of numbers&#10;&#10;Description automatically generated">
            <a:extLst>
              <a:ext uri="{FF2B5EF4-FFF2-40B4-BE49-F238E27FC236}">
                <a16:creationId xmlns:a16="http://schemas.microsoft.com/office/drawing/2014/main" id="{E59AD75D-C6FC-C252-C5CB-E364C0E9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585" y="1416276"/>
            <a:ext cx="5876368" cy="4612946"/>
          </a:xfrm>
          <a:prstGeom prst="rect">
            <a:avLst/>
          </a:pr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44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92A4-1778-DE6C-EE41-0E882255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as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F5F5-C278-F6A0-3303-EF43ECDB8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7367"/>
            <a:ext cx="8596668" cy="4653996"/>
          </a:xfrm>
        </p:spPr>
        <p:txBody>
          <a:bodyPr/>
          <a:lstStyle/>
          <a:p>
            <a:r>
              <a:rPr lang="en-US" dirty="0"/>
              <a:t>We can also use pointers to represent arrays in a different way</a:t>
            </a:r>
          </a:p>
          <a:p>
            <a:pPr lvl="1"/>
            <a:r>
              <a:rPr lang="en-US" dirty="0"/>
              <a:t>points to the </a:t>
            </a:r>
            <a:r>
              <a:rPr lang="en-US" u="sng" dirty="0"/>
              <a:t>start</a:t>
            </a:r>
            <a:r>
              <a:rPr lang="en-US" dirty="0"/>
              <a:t> of the array</a:t>
            </a:r>
          </a:p>
          <a:p>
            <a:r>
              <a:rPr lang="en-US" dirty="0"/>
              <a:t>Arrays are stored in contiguous memory locations, meaning that we can find the next element in the array by looking in the next memory address</a:t>
            </a:r>
          </a:p>
          <a:p>
            <a:r>
              <a:rPr lang="en-US" dirty="0"/>
              <a:t>When we access elements of the array using square brackets, we are just adding an offset to that memory location </a:t>
            </a:r>
          </a:p>
          <a:p>
            <a:pPr lvl="1"/>
            <a:r>
              <a:rPr lang="en-US" dirty="0"/>
              <a:t>This is called </a:t>
            </a:r>
            <a:r>
              <a:rPr lang="en-US" b="1" dirty="0"/>
              <a:t>pointer arithmetic</a:t>
            </a:r>
          </a:p>
          <a:p>
            <a:endParaRPr lang="en-US" dirty="0"/>
          </a:p>
        </p:txBody>
      </p:sp>
      <p:pic>
        <p:nvPicPr>
          <p:cNvPr id="6" name="Picture 5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FD26550C-3F1F-09C4-BDC3-B50C4AD57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57" y="3522519"/>
            <a:ext cx="3504129" cy="3028260"/>
          </a:xfrm>
          <a:prstGeom prst="rect">
            <a:avLst/>
          </a:prstGeom>
        </p:spPr>
      </p:pic>
      <p:pic>
        <p:nvPicPr>
          <p:cNvPr id="8" name="Picture 7" descr="A computer screen with numbers and symbols&#10;&#10;Description automatically generated">
            <a:extLst>
              <a:ext uri="{FF2B5EF4-FFF2-40B4-BE49-F238E27FC236}">
                <a16:creationId xmlns:a16="http://schemas.microsoft.com/office/drawing/2014/main" id="{1C2E6030-0BD7-110E-AAAF-09AD6EB3F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21" y="3903498"/>
            <a:ext cx="4893986" cy="264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5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02C3-C575-BB55-DDE5-B05BE24F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Value vs.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A6867-A71F-1351-BAC2-C4A27F966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3384"/>
            <a:ext cx="8596668" cy="4329703"/>
          </a:xfrm>
        </p:spPr>
        <p:txBody>
          <a:bodyPr/>
          <a:lstStyle/>
          <a:p>
            <a:r>
              <a:rPr lang="en-US" dirty="0"/>
              <a:t>When you pass a parameter to a function, the data is </a:t>
            </a:r>
            <a:r>
              <a:rPr lang="en-US" u="sng" dirty="0"/>
              <a:t>copied</a:t>
            </a:r>
            <a:r>
              <a:rPr lang="en-US" dirty="0"/>
              <a:t> from outside the function call to inside the function call</a:t>
            </a:r>
          </a:p>
          <a:p>
            <a:r>
              <a:rPr lang="en-US" dirty="0"/>
              <a:t>This means that if we modify any parameters in the function itself, those modifications will not be reflected outside of the function</a:t>
            </a:r>
          </a:p>
          <a:p>
            <a:r>
              <a:rPr lang="en-US" dirty="0"/>
              <a:t>Demo: </a:t>
            </a:r>
            <a:r>
              <a:rPr lang="en-US" i="1" dirty="0" err="1"/>
              <a:t>pass_by_value.c</a:t>
            </a:r>
            <a:r>
              <a:rPr lang="en-US" i="1" dirty="0"/>
              <a:t>, </a:t>
            </a:r>
            <a:r>
              <a:rPr lang="en-US" i="1" dirty="0" err="1"/>
              <a:t>pass_by_reference.c</a:t>
            </a:r>
            <a:endParaRPr lang="en-US" dirty="0"/>
          </a:p>
        </p:txBody>
      </p:sp>
      <p:pic>
        <p:nvPicPr>
          <p:cNvPr id="11" name="Picture 10" descr="A computer screen shot of numbers&#10;&#10;Description automatically generated">
            <a:extLst>
              <a:ext uri="{FF2B5EF4-FFF2-40B4-BE49-F238E27FC236}">
                <a16:creationId xmlns:a16="http://schemas.microsoft.com/office/drawing/2014/main" id="{D19826BA-D721-9246-06C2-963B4617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82" y="3338126"/>
            <a:ext cx="3223296" cy="2935502"/>
          </a:xfrm>
          <a:prstGeom prst="rect">
            <a:avLst/>
          </a:prstGeom>
        </p:spPr>
      </p:pic>
      <p:pic>
        <p:nvPicPr>
          <p:cNvPr id="13" name="Picture 12" descr="A computer code with text&#10;&#10;Description automatically generated">
            <a:extLst>
              <a:ext uri="{FF2B5EF4-FFF2-40B4-BE49-F238E27FC236}">
                <a16:creationId xmlns:a16="http://schemas.microsoft.com/office/drawing/2014/main" id="{72A94701-12CB-68F7-0A19-C4AF5B4F2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84" y="3338126"/>
            <a:ext cx="3109314" cy="29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54A72-6EC9-11A9-54CB-C0A89FBB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Danger of Pointers</a:t>
            </a:r>
          </a:p>
        </p:txBody>
      </p:sp>
      <p:pic>
        <p:nvPicPr>
          <p:cNvPr id="5" name="Picture 4" descr="A computer screen with text&#10;&#10;Description automatically generated">
            <a:extLst>
              <a:ext uri="{FF2B5EF4-FFF2-40B4-BE49-F238E27FC236}">
                <a16:creationId xmlns:a16="http://schemas.microsoft.com/office/drawing/2014/main" id="{75896947-BA32-F565-D8EA-D6197C1B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05" y="1547778"/>
            <a:ext cx="6226338" cy="46074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57824-CF1E-B267-0D6E-3068A509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8"/>
            <a:ext cx="4512988" cy="3699395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Pointers are a powerful tool, but can cause some serious headache if not treated carefully</a:t>
            </a:r>
          </a:p>
          <a:p>
            <a:r>
              <a:rPr lang="en-US" dirty="0">
                <a:solidFill>
                  <a:srgbClr val="FFFFFF"/>
                </a:solidFill>
              </a:rPr>
              <a:t>Some things you cannot do: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Return a pointer that references a local variable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Dereference a null pointer (memory address 0)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Dereference a pointer to memory your program does not own</a:t>
            </a:r>
          </a:p>
          <a:p>
            <a:r>
              <a:rPr lang="en-US" dirty="0">
                <a:solidFill>
                  <a:srgbClr val="FFFFFF"/>
                </a:solidFill>
              </a:rPr>
              <a:t>Demo: </a:t>
            </a:r>
            <a:r>
              <a:rPr lang="en-US" i="1" dirty="0" err="1">
                <a:solidFill>
                  <a:srgbClr val="FFFFFF"/>
                </a:solidFill>
              </a:rPr>
              <a:t>dangerous_pointers.c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07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DCCC-C201-892F-6F4C-CDB4EEB5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C3E5B-51C2-75CD-351C-16777BE07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229" y="1424459"/>
            <a:ext cx="8009466" cy="378116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our previous examples, the compiler has known ahead of time how much memory we need</a:t>
            </a:r>
          </a:p>
          <a:p>
            <a:pPr lvl="1"/>
            <a:r>
              <a:rPr lang="en-US" dirty="0"/>
              <a:t>It can do this because we explicitly declared things such as array lengths</a:t>
            </a:r>
          </a:p>
          <a:p>
            <a:r>
              <a:rPr lang="en-US" dirty="0"/>
              <a:t>…but what if we don’t know the size array we need at the time of writing the code?</a:t>
            </a:r>
          </a:p>
          <a:p>
            <a:r>
              <a:rPr lang="en-US" dirty="0"/>
              <a:t>Enter malloc() and free()</a:t>
            </a:r>
          </a:p>
          <a:p>
            <a:pPr lvl="1"/>
            <a:r>
              <a:rPr lang="en-US" dirty="0"/>
              <a:t>malloc dynamically allocates memory and returns a pointer to the memory it has set aside</a:t>
            </a:r>
          </a:p>
          <a:p>
            <a:pPr lvl="1"/>
            <a:r>
              <a:rPr lang="en-US" dirty="0"/>
              <a:t>free does the opposite, returning the memory back to the operating system</a:t>
            </a:r>
          </a:p>
          <a:p>
            <a:r>
              <a:rPr lang="en-US" dirty="0"/>
              <a:t>If you don’t free your </a:t>
            </a:r>
            <a:r>
              <a:rPr lang="en-US" dirty="0" err="1"/>
              <a:t>malloc’d</a:t>
            </a:r>
            <a:r>
              <a:rPr lang="en-US" dirty="0"/>
              <a:t> memory, you have a </a:t>
            </a:r>
            <a:r>
              <a:rPr lang="en-US" u="sng" dirty="0"/>
              <a:t>memory leak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This can cause your program to eventually run out of memory and crash</a:t>
            </a:r>
          </a:p>
          <a:p>
            <a:pPr lvl="1"/>
            <a:r>
              <a:rPr lang="en-US" dirty="0"/>
              <a:t>We almost always avoid using malloc in GNC for this reason</a:t>
            </a:r>
          </a:p>
          <a:p>
            <a:r>
              <a:rPr lang="en-US" dirty="0"/>
              <a:t>Demo: </a:t>
            </a:r>
            <a:r>
              <a:rPr lang="en-US" i="1" dirty="0" err="1"/>
              <a:t>malloc_free.c</a:t>
            </a:r>
            <a:endParaRPr lang="en-US" i="1" dirty="0"/>
          </a:p>
        </p:txBody>
      </p:sp>
      <p:pic>
        <p:nvPicPr>
          <p:cNvPr id="5" name="Picture 4" descr="A black background with text&#10;&#10;Description automatically generated">
            <a:extLst>
              <a:ext uri="{FF2B5EF4-FFF2-40B4-BE49-F238E27FC236}">
                <a16:creationId xmlns:a16="http://schemas.microsoft.com/office/drawing/2014/main" id="{AD7C8D30-3C84-C16F-94F9-24D7076E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2" y="5220730"/>
            <a:ext cx="7377269" cy="148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FD0BE-6584-4B7C-33CF-734B3C6B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Malloc/Free Example</a:t>
            </a:r>
            <a:endParaRPr lang="en-US" dirty="0"/>
          </a:p>
        </p:txBody>
      </p:sp>
      <p:pic>
        <p:nvPicPr>
          <p:cNvPr id="21" name="Content Placeholder 20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F75442C-90BF-3389-FB04-0FF64DB55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9253" y="1323592"/>
            <a:ext cx="5016843" cy="5219954"/>
          </a:xfrm>
        </p:spPr>
      </p:pic>
    </p:spTree>
    <p:extLst>
      <p:ext uri="{BB962C8B-B14F-4D97-AF65-F5344CB8AC3E}">
        <p14:creationId xmlns:p14="http://schemas.microsoft.com/office/powerpoint/2010/main" val="159652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C94AA-E2D7-DE84-4FAB-2D455A50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C Pre-Processor (Macros)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DB9C2-9675-59FE-850F-DD21DF993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4365501" cy="345193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Sometimes, you may want to define shortcuts for certain constants or for statements that are repeated often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Macros are just a systematic way to tell the compiler to do text replacement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Use the pre-processor directive #define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Typically one-line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Can have parameters just like functions, but not quite the same…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solidFill>
                  <a:schemeClr val="bg1"/>
                </a:solidFill>
              </a:rPr>
              <a:t>See MULT_WRONG vs MULT</a:t>
            </a:r>
          </a:p>
          <a:p>
            <a:pPr lvl="1"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8832020-386B-594F-77C6-E7E7BB5C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354363"/>
            <a:ext cx="5143500" cy="4153537"/>
          </a:xfrm>
          <a:prstGeom prst="rect">
            <a:avLst/>
          </a:prstGeom>
        </p:spPr>
      </p:pic>
      <p:sp>
        <p:nvSpPr>
          <p:cNvPr id="44" name="Isosceles Triangle 2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18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437C-E629-3329-455A-BEDFCEC9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7" cy="1320800"/>
          </a:xfrm>
        </p:spPr>
        <p:txBody>
          <a:bodyPr>
            <a:normAutofit/>
          </a:bodyPr>
          <a:lstStyle/>
          <a:p>
            <a:r>
              <a:rPr lang="en-US" dirty="0"/>
              <a:t>Using Multiple Files</a:t>
            </a:r>
          </a:p>
        </p:txBody>
      </p:sp>
      <p:pic>
        <p:nvPicPr>
          <p:cNvPr id="9" name="Picture 8" descr="A black screen with colorful text&#10;&#10;Description automatically generated">
            <a:extLst>
              <a:ext uri="{FF2B5EF4-FFF2-40B4-BE49-F238E27FC236}">
                <a16:creationId xmlns:a16="http://schemas.microsoft.com/office/drawing/2014/main" id="{7B0B46CB-6FCC-E627-8580-BCFC01D22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72" b="4"/>
          <a:stretch>
            <a:fillRect/>
          </a:stretch>
        </p:blipFill>
        <p:spPr>
          <a:xfrm>
            <a:off x="677334" y="2158073"/>
            <a:ext cx="3144597" cy="1826881"/>
          </a:xfrm>
          <a:prstGeom prst="rect">
            <a:avLst/>
          </a:prstGeom>
        </p:spPr>
      </p:pic>
      <p:sp>
        <p:nvSpPr>
          <p:cNvPr id="14" name="Isosceles Triangle 8">
            <a:extLst>
              <a:ext uri="{FF2B5EF4-FFF2-40B4-BE49-F238E27FC236}">
                <a16:creationId xmlns:a16="http://schemas.microsoft.com/office/drawing/2014/main" id="{118DD5A8-BBF1-479C-AE8F-0A9C67A0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476655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7DC920-8EC2-1CE4-F100-8C64B7953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2394" y="2160589"/>
            <a:ext cx="5211607" cy="43267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Say we want to have a </a:t>
            </a:r>
            <a:r>
              <a:rPr lang="en-US" sz="1500" dirty="0" err="1"/>
              <a:t>lib.c</a:t>
            </a:r>
            <a:r>
              <a:rPr lang="en-US" sz="1500" dirty="0"/>
              <a:t> file that provides certain functions for </a:t>
            </a:r>
            <a:r>
              <a:rPr lang="en-US" sz="1500" dirty="0" err="1"/>
              <a:t>main.c</a:t>
            </a:r>
            <a:r>
              <a:rPr lang="en-US" sz="1500" dirty="0"/>
              <a:t> to use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The compiler treats each .c file one at a time with no context shared between them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This means that we cannot just use a function from </a:t>
            </a:r>
            <a:r>
              <a:rPr lang="en-US" sz="1500" dirty="0" err="1"/>
              <a:t>lib.c</a:t>
            </a:r>
            <a:r>
              <a:rPr lang="en-US" sz="1500" dirty="0"/>
              <a:t> in </a:t>
            </a:r>
            <a:r>
              <a:rPr lang="en-US" sz="1500" dirty="0" err="1"/>
              <a:t>main.c</a:t>
            </a:r>
            <a:r>
              <a:rPr lang="en-US" sz="1500" dirty="0"/>
              <a:t>, because </a:t>
            </a:r>
            <a:r>
              <a:rPr lang="en-US" sz="1500" dirty="0" err="1"/>
              <a:t>main.c</a:t>
            </a:r>
            <a:r>
              <a:rPr lang="en-US" sz="1500" dirty="0"/>
              <a:t> does not define it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We can use function prototypes to solve this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Although </a:t>
            </a:r>
            <a:r>
              <a:rPr lang="en-US" sz="1500" dirty="0" err="1"/>
              <a:t>main.c</a:t>
            </a:r>
            <a:r>
              <a:rPr lang="en-US" sz="1500" dirty="0"/>
              <a:t> does not provide an implementation for </a:t>
            </a:r>
            <a:r>
              <a:rPr lang="en-US" sz="1500" dirty="0" err="1"/>
              <a:t>add_one</a:t>
            </a:r>
            <a:r>
              <a:rPr lang="en-US" sz="1500" dirty="0"/>
              <a:t>, it is enough for the compiler to know what the function prototype is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After the compiler runs, a separate program called the </a:t>
            </a:r>
            <a:r>
              <a:rPr lang="en-US" sz="1500" b="1" dirty="0"/>
              <a:t>linker</a:t>
            </a:r>
            <a:r>
              <a:rPr lang="en-US" sz="1500" dirty="0"/>
              <a:t> will then look for a definition for the function </a:t>
            </a:r>
            <a:r>
              <a:rPr lang="en-US" sz="1500" dirty="0" err="1"/>
              <a:t>add_one</a:t>
            </a:r>
            <a:r>
              <a:rPr lang="en-US" sz="1500" dirty="0"/>
              <a:t> and link it to the function call in </a:t>
            </a:r>
            <a:r>
              <a:rPr lang="en-US" sz="1500" dirty="0" err="1"/>
              <a:t>main.c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2857CF-2228-4AEC-8513-A214C1AB7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26230" y="5618029"/>
            <a:ext cx="618066" cy="228600"/>
          </a:xfrm>
          <a:prstGeom prst="rect">
            <a:avLst/>
          </a:prstGeom>
          <a:solidFill>
            <a:srgbClr val="EA2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omputer code with text on it&#10;&#10;Description automatically generated">
            <a:extLst>
              <a:ext uri="{FF2B5EF4-FFF2-40B4-BE49-F238E27FC236}">
                <a16:creationId xmlns:a16="http://schemas.microsoft.com/office/drawing/2014/main" id="{2F9399F9-8649-1B98-9A89-F0C03679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01" r="-5" b="1186"/>
          <a:stretch>
            <a:fillRect/>
          </a:stretch>
        </p:blipFill>
        <p:spPr>
          <a:xfrm>
            <a:off x="677334" y="4214811"/>
            <a:ext cx="3144597" cy="182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0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63A3-E105-C5A0-7851-6671A0BB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 Pre-Processor (Header Files)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5AC8-B867-47E5-8EB1-1B01A6703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3283"/>
            <a:ext cx="8596668" cy="4738079"/>
          </a:xfrm>
        </p:spPr>
        <p:txBody>
          <a:bodyPr/>
          <a:lstStyle/>
          <a:p>
            <a:r>
              <a:rPr lang="en-US" dirty="0"/>
              <a:t>The previous example works fine, but what if we want to use more functions? What if we want to use </a:t>
            </a:r>
            <a:r>
              <a:rPr lang="en-US" dirty="0" err="1"/>
              <a:t>lib.c</a:t>
            </a:r>
            <a:r>
              <a:rPr lang="en-US" dirty="0"/>
              <a:t> in more than just </a:t>
            </a:r>
            <a:r>
              <a:rPr lang="en-US" dirty="0" err="1"/>
              <a:t>main.c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There would be a lot of repetition of function prototypes across multiple different files</a:t>
            </a:r>
          </a:p>
          <a:p>
            <a:r>
              <a:rPr lang="en-US" b="1" dirty="0"/>
              <a:t>Header files </a:t>
            </a:r>
            <a:r>
              <a:rPr lang="en-US" dirty="0"/>
              <a:t>allow us to consolidate multiple function prototypes in a separate file to then be “included” in any C file that wants to use those functions</a:t>
            </a:r>
          </a:p>
          <a:p>
            <a:r>
              <a:rPr lang="en-US" dirty="0"/>
              <a:t>Use the #include keyword followed by the file name to tell the pre-processor to add the contents of the .h file to the start of the c file</a:t>
            </a:r>
          </a:p>
          <a:p>
            <a:r>
              <a:rPr lang="en-US" sz="1800" dirty="0"/>
              <a:t>Demo: </a:t>
            </a:r>
            <a:r>
              <a:rPr lang="en-US" sz="1800" i="1" dirty="0" err="1"/>
              <a:t>multiple_files</a:t>
            </a:r>
            <a:endParaRPr lang="en-US" sz="1800" dirty="0"/>
          </a:p>
          <a:p>
            <a:endParaRPr lang="en-US" dirty="0"/>
          </a:p>
        </p:txBody>
      </p:sp>
      <p:pic>
        <p:nvPicPr>
          <p:cNvPr id="5" name="Picture 4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5D9C507E-BD45-BAD1-850D-A0F040339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960" y="4433607"/>
            <a:ext cx="3553911" cy="2028148"/>
          </a:xfrm>
          <a:prstGeom prst="rect">
            <a:avLst/>
          </a:prstGeom>
        </p:spPr>
      </p:pic>
      <p:pic>
        <p:nvPicPr>
          <p:cNvPr id="7" name="Picture 6" descr="A black background with colorful text&#10;&#10;Description automatically generated">
            <a:extLst>
              <a:ext uri="{FF2B5EF4-FFF2-40B4-BE49-F238E27FC236}">
                <a16:creationId xmlns:a16="http://schemas.microsoft.com/office/drawing/2014/main" id="{D2B371F4-08B2-A48C-BAD9-87EAE9E32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62" y="4652596"/>
            <a:ext cx="3407506" cy="1590170"/>
          </a:xfrm>
          <a:prstGeom prst="rect">
            <a:avLst/>
          </a:prstGeom>
        </p:spPr>
      </p:pic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5E92C41D-2B61-293E-6195-E51C07841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714" y="4894287"/>
            <a:ext cx="35179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76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301B-3248-E471-D2D8-EA875DC0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(Git)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EC7B-A622-7BBA-7B74-382E20AD4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1027"/>
            <a:ext cx="8596668" cy="46203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any software development team, members need a way to work on the same project simultaneously</a:t>
            </a:r>
          </a:p>
          <a:p>
            <a:r>
              <a:rPr lang="en-US" dirty="0"/>
              <a:t>Changes you make in git are called </a:t>
            </a:r>
            <a:r>
              <a:rPr lang="en-US" b="1" dirty="0"/>
              <a:t>commits</a:t>
            </a:r>
            <a:r>
              <a:rPr lang="en-US" dirty="0"/>
              <a:t>, and these commits are structured in a </a:t>
            </a:r>
            <a:r>
              <a:rPr lang="en-US" b="1" dirty="0"/>
              <a:t>repository</a:t>
            </a:r>
            <a:r>
              <a:rPr lang="en-US" dirty="0"/>
              <a:t>, often hosted online on GitHub or elsewhere</a:t>
            </a:r>
          </a:p>
          <a:p>
            <a:pPr lvl="1"/>
            <a:r>
              <a:rPr lang="en-US" dirty="0"/>
              <a:t>A local copy of the repository exists on your computer, and </a:t>
            </a:r>
            <a:r>
              <a:rPr lang="en-US" u="sng" dirty="0"/>
              <a:t>may or may not be in sync with the online version</a:t>
            </a:r>
          </a:p>
          <a:p>
            <a:pPr lvl="1"/>
            <a:r>
              <a:rPr lang="en-US" dirty="0"/>
              <a:t>The online host is often referred to as the </a:t>
            </a:r>
            <a:r>
              <a:rPr lang="en-US" b="1" dirty="0"/>
              <a:t>origin</a:t>
            </a:r>
            <a:r>
              <a:rPr lang="en-US" dirty="0"/>
              <a:t> or </a:t>
            </a:r>
            <a:r>
              <a:rPr lang="en-US" b="1" dirty="0"/>
              <a:t>remote</a:t>
            </a:r>
          </a:p>
          <a:p>
            <a:pPr lvl="1"/>
            <a:r>
              <a:rPr lang="en-US" dirty="0"/>
              <a:t>Syncing between the remote and local repositories is done through </a:t>
            </a:r>
            <a:r>
              <a:rPr lang="en-US" b="1" dirty="0"/>
              <a:t>pushes</a:t>
            </a:r>
            <a:r>
              <a:rPr lang="en-US" dirty="0"/>
              <a:t> and </a:t>
            </a:r>
            <a:r>
              <a:rPr lang="en-US" b="1" dirty="0"/>
              <a:t>pulls</a:t>
            </a:r>
          </a:p>
          <a:p>
            <a:r>
              <a:rPr lang="en-US" dirty="0"/>
              <a:t>At its most basic level, you can make a repository that has an entirely linear history of commits</a:t>
            </a:r>
          </a:p>
          <a:p>
            <a:pPr lvl="1"/>
            <a:r>
              <a:rPr lang="en-US" dirty="0"/>
              <a:t>One commit comes after the other and builds on the previous commit</a:t>
            </a:r>
          </a:p>
          <a:p>
            <a:r>
              <a:rPr lang="en-US" dirty="0"/>
              <a:t>But if two developers are trying to work on the same code at the same time, we run into issues because they cannot continuously sync their changes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55210-1B01-FEA3-5F05-34B9F1FAA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18" y="5793712"/>
            <a:ext cx="5676900" cy="495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3717D-B409-DC27-026D-28C7038F17F8}"/>
              </a:ext>
            </a:extLst>
          </p:cNvPr>
          <p:cNvSpPr txBox="1"/>
          <p:nvPr/>
        </p:nvSpPr>
        <p:spPr>
          <a:xfrm>
            <a:off x="2183621" y="6271817"/>
            <a:ext cx="5584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Example of a linear git history. Each color corresponds to a feature</a:t>
            </a:r>
          </a:p>
        </p:txBody>
      </p:sp>
    </p:spTree>
    <p:extLst>
      <p:ext uri="{BB962C8B-B14F-4D97-AF65-F5344CB8AC3E}">
        <p14:creationId xmlns:p14="http://schemas.microsoft.com/office/powerpoint/2010/main" val="314768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466F-82F8-0B9A-C0CC-D2419D88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Git Branches</a:t>
            </a: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119FAC1D-9D75-F196-3E42-70F42F387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r>
              <a:rPr lang="en-US" dirty="0"/>
              <a:t>In git, a “branch” is an isolated line of development that starts from a single commit</a:t>
            </a:r>
          </a:p>
          <a:p>
            <a:pPr lvl="1"/>
            <a:r>
              <a:rPr lang="en-US" dirty="0"/>
              <a:t>Typically, a branch is created for each feature to be developed, or for each developer working on the project</a:t>
            </a:r>
          </a:p>
          <a:p>
            <a:pPr lvl="1"/>
            <a:r>
              <a:rPr lang="en-US" dirty="0"/>
              <a:t>Two developers typically can’t be working on the same branch at once</a:t>
            </a:r>
          </a:p>
          <a:p>
            <a:r>
              <a:rPr lang="en-US" dirty="0"/>
              <a:t>Once development is complete on a branch, it is then ”merged” with a mainline branch that contains the current state of the application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26" name="Picture 2" descr="What is the best Git branch strategy? | Git Best Practices">
            <a:extLst>
              <a:ext uri="{FF2B5EF4-FFF2-40B4-BE49-F238E27FC236}">
                <a16:creationId xmlns:a16="http://schemas.microsoft.com/office/drawing/2014/main" id="{BAB13AFF-E85A-A235-2D5C-A140E3B07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91575" y="859631"/>
            <a:ext cx="3640965" cy="576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782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1E720-C4A1-8444-318C-17156F1A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Git Merges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7BD7A-AB57-8C7D-CB4C-26B162A40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5" y="1840400"/>
            <a:ext cx="4837904" cy="47449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Imagine the following chain of events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Create feature branch A from main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Create feature branch B from main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Change file </a:t>
            </a:r>
            <a:r>
              <a:rPr lang="en-US" dirty="0" err="1">
                <a:solidFill>
                  <a:schemeClr val="bg1"/>
                </a:solidFill>
              </a:rPr>
              <a:t>main.c</a:t>
            </a:r>
            <a:r>
              <a:rPr lang="en-US" dirty="0">
                <a:solidFill>
                  <a:schemeClr val="bg1"/>
                </a:solidFill>
              </a:rPr>
              <a:t> in branch 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Make a different change to file </a:t>
            </a:r>
            <a:r>
              <a:rPr lang="en-US" dirty="0" err="1">
                <a:solidFill>
                  <a:schemeClr val="bg1"/>
                </a:solidFill>
              </a:rPr>
              <a:t>main.c</a:t>
            </a:r>
            <a:r>
              <a:rPr lang="en-US" dirty="0">
                <a:solidFill>
                  <a:schemeClr val="bg1"/>
                </a:solidFill>
              </a:rPr>
              <a:t> in branch B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Merge branch B into main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Merge branch A into main</a:t>
            </a:r>
            <a:endParaRPr lang="en-US" i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Which version of </a:t>
            </a:r>
            <a:r>
              <a:rPr lang="en-US" sz="1600" dirty="0" err="1">
                <a:solidFill>
                  <a:schemeClr val="bg1"/>
                </a:solidFill>
              </a:rPr>
              <a:t>main.c</a:t>
            </a:r>
            <a:r>
              <a:rPr lang="en-US" sz="1600" dirty="0">
                <a:solidFill>
                  <a:schemeClr val="bg1"/>
                </a:solidFill>
              </a:rPr>
              <a:t> ends up in main?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In all but the simplest cases, git produces a “merge conflict,” and a developer must manually decide which changes from branch A go into </a:t>
            </a:r>
            <a:r>
              <a:rPr lang="en-US" dirty="0" err="1">
                <a:solidFill>
                  <a:schemeClr val="bg1"/>
                </a:solidFill>
              </a:rPr>
              <a:t>main.c</a:t>
            </a:r>
            <a:r>
              <a:rPr lang="en-US" dirty="0">
                <a:solidFill>
                  <a:schemeClr val="bg1"/>
                </a:solidFill>
              </a:rPr>
              <a:t> and which changes from branch B go into </a:t>
            </a:r>
            <a:r>
              <a:rPr lang="en-US" dirty="0" err="1">
                <a:solidFill>
                  <a:schemeClr val="bg1"/>
                </a:solidFill>
              </a:rPr>
              <a:t>main.c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How to avoid and resolve merge conflicts in your Salesforce CI/CD pipeline  | Gearset">
            <a:extLst>
              <a:ext uri="{FF2B5EF4-FFF2-40B4-BE49-F238E27FC236}">
                <a16:creationId xmlns:a16="http://schemas.microsoft.com/office/drawing/2014/main" id="{9F9E19FF-A937-302A-F0B6-A2684AA58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94442" y="2019075"/>
            <a:ext cx="6744647" cy="335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Isosceles Triangle 103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579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67FF-3B6A-8254-9C29-EC933648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Development 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5E466-3715-6F43-FACF-451478B26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9881"/>
            <a:ext cx="8596668" cy="49674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you are on windows</a:t>
            </a:r>
          </a:p>
          <a:p>
            <a:pPr lvl="1"/>
            <a:r>
              <a:rPr lang="en-US" dirty="0"/>
              <a:t>Install Windows Subsystem for Linux (WSL)</a:t>
            </a:r>
          </a:p>
          <a:p>
            <a:r>
              <a:rPr lang="en-US" dirty="0"/>
              <a:t>Visual Studio Code</a:t>
            </a:r>
          </a:p>
          <a:p>
            <a:pPr lvl="1"/>
            <a:r>
              <a:rPr lang="en-US" dirty="0"/>
              <a:t>The happy blue one, not the evil purple one… it will take all of your memory and run with it</a:t>
            </a:r>
          </a:p>
          <a:p>
            <a:pPr lvl="1"/>
            <a:r>
              <a:rPr lang="en-US" dirty="0"/>
              <a:t>Extensions</a:t>
            </a:r>
          </a:p>
          <a:p>
            <a:pPr lvl="2"/>
            <a:r>
              <a:rPr lang="en-US" dirty="0"/>
              <a:t>C/C++</a:t>
            </a:r>
          </a:p>
          <a:p>
            <a:r>
              <a:rPr lang="en-US" dirty="0"/>
              <a:t>Install git</a:t>
            </a:r>
          </a:p>
          <a:p>
            <a:pPr lvl="1"/>
            <a:r>
              <a:rPr lang="en-US" dirty="0"/>
              <a:t>Ubuntu/WSL: </a:t>
            </a:r>
            <a:r>
              <a:rPr lang="en-US" dirty="0" err="1"/>
              <a:t>sudo</a:t>
            </a:r>
            <a:r>
              <a:rPr lang="en-US" dirty="0"/>
              <a:t> apt-get install git</a:t>
            </a:r>
          </a:p>
          <a:p>
            <a:pPr lvl="1"/>
            <a:r>
              <a:rPr lang="en-US" dirty="0"/>
              <a:t>MacOS: brew install git (install brew from </a:t>
            </a:r>
            <a:r>
              <a:rPr lang="en-US" dirty="0">
                <a:hlinkClick r:id="rId2"/>
              </a:rPr>
              <a:t>brew.sh</a:t>
            </a:r>
            <a:r>
              <a:rPr lang="en-US" dirty="0"/>
              <a:t>)</a:t>
            </a:r>
          </a:p>
          <a:p>
            <a:r>
              <a:rPr lang="en-US" dirty="0"/>
              <a:t>Clone the flight software repository</a:t>
            </a:r>
          </a:p>
          <a:p>
            <a:pPr lvl="1"/>
            <a:r>
              <a:rPr lang="en-US" dirty="0"/>
              <a:t>git clone https://</a:t>
            </a:r>
            <a:r>
              <a:rPr lang="en-US" dirty="0" err="1"/>
              <a:t>github.gatech.edu</a:t>
            </a:r>
            <a:r>
              <a:rPr lang="en-US" dirty="0"/>
              <a:t>/</a:t>
            </a:r>
            <a:r>
              <a:rPr lang="en-US" dirty="0" err="1"/>
              <a:t>gnc</a:t>
            </a:r>
            <a:r>
              <a:rPr lang="en-US" dirty="0"/>
              <a:t>/flight-</a:t>
            </a:r>
            <a:r>
              <a:rPr lang="en-US" dirty="0" err="1"/>
              <a:t>software.git</a:t>
            </a:r>
            <a:endParaRPr lang="en-US" dirty="0"/>
          </a:p>
          <a:p>
            <a:r>
              <a:rPr lang="en-US" dirty="0"/>
              <a:t>For flight software development, there are quite a few other tools you need to install, which will be listed in the flight software repository. If not, talk to Sam</a:t>
            </a:r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124B1CB6-F906-95EA-EB88-3EC6A9BAC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425" y="2989648"/>
            <a:ext cx="584200" cy="584200"/>
          </a:xfrm>
          <a:prstGeom prst="rect">
            <a:avLst/>
          </a:prstGeom>
        </p:spPr>
      </p:pic>
      <p:pic>
        <p:nvPicPr>
          <p:cNvPr id="7" name="Picture 6" descr="A purple ribbon in a shape of a infinity symbol&#10;&#10;Description automatically generated">
            <a:extLst>
              <a:ext uri="{FF2B5EF4-FFF2-40B4-BE49-F238E27FC236}">
                <a16:creationId xmlns:a16="http://schemas.microsoft.com/office/drawing/2014/main" id="{1BF54E72-DA8B-A013-CFAC-A358E177C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319" y="2989648"/>
            <a:ext cx="665446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69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40F5-79B1-177D-940B-6089A89E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3485-F4BC-8EA5-8899-8692F1E05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45314"/>
          </a:xfrm>
        </p:spPr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https://github.gatech.edu/gnc/software-onboarding</a:t>
            </a:r>
            <a:r>
              <a:rPr lang="en-US" dirty="0"/>
              <a:t> and do exercise 1</a:t>
            </a:r>
          </a:p>
          <a:p>
            <a:pPr lvl="1"/>
            <a:r>
              <a:rPr lang="en-US" dirty="0"/>
              <a:t>1. Run “git clone </a:t>
            </a:r>
            <a:r>
              <a:rPr lang="en-US" dirty="0">
                <a:hlinkClick r:id="rId2"/>
              </a:rPr>
              <a:t>https://github.gatech.edu/gnc/software-onboarding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2. Create a branch by running “git checkout –b &lt;first name&gt;-exercise1”</a:t>
            </a:r>
          </a:p>
          <a:p>
            <a:pPr lvl="2"/>
            <a:r>
              <a:rPr lang="en-US" dirty="0"/>
              <a:t>Ex. Sam would run “git checkout –b sam-exercise1’</a:t>
            </a:r>
          </a:p>
          <a:p>
            <a:pPr lvl="2"/>
            <a:r>
              <a:rPr lang="en-US" dirty="0"/>
              <a:t>This creates a new branch</a:t>
            </a:r>
          </a:p>
          <a:p>
            <a:pPr lvl="1"/>
            <a:r>
              <a:rPr lang="en-US" dirty="0"/>
              <a:t>3. Do the exercise following the instructions in the exercise 1 README</a:t>
            </a:r>
          </a:p>
          <a:p>
            <a:pPr lvl="1"/>
            <a:r>
              <a:rPr lang="en-US" dirty="0"/>
              <a:t>4. Stage your changes by running “git add .”</a:t>
            </a:r>
          </a:p>
          <a:p>
            <a:pPr lvl="1"/>
            <a:r>
              <a:rPr lang="en-US" dirty="0"/>
              <a:t>5. Commit your changes by running “git commit –m &lt;commit message&gt;”</a:t>
            </a:r>
          </a:p>
          <a:p>
            <a:pPr lvl="2"/>
            <a:r>
              <a:rPr lang="en-US" dirty="0"/>
              <a:t>Ex. git commit –m “Sam exercise 1”</a:t>
            </a:r>
          </a:p>
          <a:p>
            <a:pPr lvl="1"/>
            <a:r>
              <a:rPr lang="en-US" dirty="0"/>
              <a:t>6. Push your changes by running “git push origin &lt;first name&gt;-exercise1”</a:t>
            </a:r>
          </a:p>
          <a:p>
            <a:pPr lvl="1"/>
            <a:r>
              <a:rPr lang="en-US" dirty="0"/>
              <a:t>7. Create a pull request in GitHub to merge your branch into the main branch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14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2B81-4F06-9809-B7C7-397336AFA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404534"/>
            <a:ext cx="9196552" cy="1646302"/>
          </a:xfrm>
        </p:spPr>
        <p:txBody>
          <a:bodyPr/>
          <a:lstStyle/>
          <a:p>
            <a:r>
              <a:rPr lang="en-US" dirty="0"/>
              <a:t>Reference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CAC34-7164-3C64-F581-84028D817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0250" y="4050836"/>
            <a:ext cx="6106303" cy="109689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0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671B-FEAA-08EF-E5ED-3A0E9F23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24805-8A2C-EDAA-6AEB-5550CE43D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https://learngitbranching.js.org</a:t>
            </a:r>
            <a:r>
              <a:rPr lang="en-US" dirty="0"/>
              <a:t> – Interactive git tutorial</a:t>
            </a:r>
          </a:p>
          <a:p>
            <a:r>
              <a:rPr lang="en-US" dirty="0">
                <a:hlinkClick r:id="rId3"/>
              </a:rPr>
              <a:t>https://www.learn-c.org/</a:t>
            </a:r>
            <a:r>
              <a:rPr lang="en-US" dirty="0"/>
              <a:t> - Interactive C tutorial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943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A2CD-FB0E-A09F-E43A-14B6B237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C Utility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F612-93CD-9278-8D8F-6996DBF81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9816"/>
            <a:ext cx="8596668" cy="5387545"/>
          </a:xfrm>
        </p:spPr>
        <p:txBody>
          <a:bodyPr>
            <a:noAutofit/>
          </a:bodyPr>
          <a:lstStyle/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memcpy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(void*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dest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const void*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size_t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num)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Copies num bytes of </a:t>
            </a:r>
            <a:r>
              <a:rPr lang="en-US" dirty="0" err="1">
                <a:solidFill>
                  <a:srgbClr val="000000"/>
                </a:solidFill>
              </a:rPr>
              <a:t>src</a:t>
            </a:r>
            <a:r>
              <a:rPr lang="en-US" dirty="0">
                <a:solidFill>
                  <a:srgbClr val="000000"/>
                </a:solidFill>
              </a:rPr>
              <a:t> to </a:t>
            </a:r>
            <a:r>
              <a:rPr lang="en-US" dirty="0" err="1">
                <a:solidFill>
                  <a:srgbClr val="000000"/>
                </a:solidFill>
              </a:rPr>
              <a:t>dest</a:t>
            </a:r>
            <a:r>
              <a:rPr lang="en-US" dirty="0"/>
              <a:t> </a:t>
            </a:r>
          </a:p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memset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(void*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ptr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int value,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size_t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num)</a:t>
            </a:r>
            <a:endParaRPr lang="en-US" sz="1600" dirty="0"/>
          </a:p>
          <a:p>
            <a:pPr lvl="1"/>
            <a:r>
              <a:rPr lang="en-US" dirty="0"/>
              <a:t>Sets num bytes of </a:t>
            </a:r>
            <a:r>
              <a:rPr lang="en-US" dirty="0" err="1"/>
              <a:t>ptr</a:t>
            </a:r>
            <a:r>
              <a:rPr lang="en-US" dirty="0"/>
              <a:t> to value</a:t>
            </a:r>
          </a:p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realloc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(void*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ptr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size_t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new_size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lvl="1"/>
            <a:r>
              <a:rPr lang="en-US" dirty="0"/>
              <a:t>Reallocates a previously allocated pointer to a new size</a:t>
            </a:r>
          </a:p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calloc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size_t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num,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size_t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size)</a:t>
            </a:r>
          </a:p>
          <a:p>
            <a:pPr lvl="1"/>
            <a:r>
              <a:rPr lang="en-US" dirty="0"/>
              <a:t>Like malloc, but sets the values to 0</a:t>
            </a:r>
          </a:p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sprintf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(char* str, const char* format, ...)</a:t>
            </a:r>
            <a:endParaRPr lang="en-US" sz="1600" dirty="0"/>
          </a:p>
          <a:p>
            <a:pPr lvl="1"/>
            <a:r>
              <a:rPr lang="en-US" dirty="0"/>
              <a:t>Dynamically format a string using variables as parameters</a:t>
            </a:r>
          </a:p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strlen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(const char* str)</a:t>
            </a:r>
            <a:endParaRPr lang="en-US" sz="1600" dirty="0"/>
          </a:p>
          <a:p>
            <a:pPr lvl="1"/>
            <a:r>
              <a:rPr lang="en-US" dirty="0"/>
              <a:t>Get the length of a string by counting the number of characters until the null character (‘\0’)</a:t>
            </a:r>
          </a:p>
          <a:p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strcpy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(char*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dest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, const char*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lvl="1"/>
            <a:r>
              <a:rPr lang="en-US" dirty="0"/>
              <a:t>Copies the string </a:t>
            </a:r>
            <a:r>
              <a:rPr lang="en-US" dirty="0" err="1"/>
              <a:t>src</a:t>
            </a:r>
            <a:r>
              <a:rPr lang="en-US" dirty="0"/>
              <a:t> to </a:t>
            </a:r>
            <a:r>
              <a:rPr lang="en-US" dirty="0" err="1"/>
              <a:t>dest</a:t>
            </a:r>
            <a:r>
              <a:rPr lang="en-US" dirty="0"/>
              <a:t>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458373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4349</TotalTime>
  <Words>1786</Words>
  <Application>Microsoft Macintosh PowerPoint</Application>
  <PresentationFormat>Widescreen</PresentationFormat>
  <Paragraphs>159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C Software Development</vt:lpstr>
      <vt:lpstr>Hello, World!</vt:lpstr>
      <vt:lpstr>Data Types</vt:lpstr>
      <vt:lpstr>Control Flow</vt:lpstr>
      <vt:lpstr>Functions</vt:lpstr>
      <vt:lpstr>Function Prototypes</vt:lpstr>
      <vt:lpstr>Pointers</vt:lpstr>
      <vt:lpstr>Arrays as Pointers</vt:lpstr>
      <vt:lpstr>Pass by Value vs. Pass by Reference</vt:lpstr>
      <vt:lpstr>The Danger of Pointers</vt:lpstr>
      <vt:lpstr>Memory Management</vt:lpstr>
      <vt:lpstr>Malloc/Free Example</vt:lpstr>
      <vt:lpstr>The C Pre-Processor (Macros)</vt:lpstr>
      <vt:lpstr>Using Multiple Files</vt:lpstr>
      <vt:lpstr>The C Pre-Processor (Header Files)</vt:lpstr>
      <vt:lpstr>Version Control (Git)</vt:lpstr>
      <vt:lpstr>Git Branches</vt:lpstr>
      <vt:lpstr>Git Merges</vt:lpstr>
      <vt:lpstr>Basic Development Environment Setup</vt:lpstr>
      <vt:lpstr>Practice Exercises</vt:lpstr>
      <vt:lpstr>Reference Materials</vt:lpstr>
      <vt:lpstr>Useful Links</vt:lpstr>
      <vt:lpstr>Various C Utility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Peterson, Samuel I</dc:creator>
  <cp:lastModifiedBy>Peterson, Samuel I</cp:lastModifiedBy>
  <cp:revision>19</cp:revision>
  <dcterms:created xsi:type="dcterms:W3CDTF">2025-08-13T22:35:47Z</dcterms:created>
  <dcterms:modified xsi:type="dcterms:W3CDTF">2025-08-24T04:25:37Z</dcterms:modified>
</cp:coreProperties>
</file>