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60" r:id="rId8"/>
    <p:sldId id="272" r:id="rId9"/>
    <p:sldId id="271" r:id="rId10"/>
    <p:sldId id="265" r:id="rId11"/>
    <p:sldId id="275" r:id="rId12"/>
    <p:sldId id="263" r:id="rId13"/>
    <p:sldId id="264" r:id="rId14"/>
    <p:sldId id="276" r:id="rId15"/>
    <p:sldId id="261" r:id="rId16"/>
    <p:sldId id="273" r:id="rId17"/>
    <p:sldId id="267" r:id="rId18"/>
    <p:sldId id="266" r:id="rId19"/>
    <p:sldId id="277" r:id="rId20"/>
    <p:sldId id="278" r:id="rId21"/>
    <p:sldId id="26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0" d="100"/>
          <a:sy n="100" d="100"/>
        </p:scale>
        <p:origin x="15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gatech.edu/gnc/software-onboardi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2B81-4F06-9809-B7C7-397336AFA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404534"/>
            <a:ext cx="9196552" cy="1646302"/>
          </a:xfrm>
        </p:spPr>
        <p:txBody>
          <a:bodyPr/>
          <a:lstStyle/>
          <a:p>
            <a:r>
              <a:rPr lang="en-US" dirty="0"/>
              <a:t>Embedded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CAC34-7164-3C64-F581-84028D817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0250" y="4050836"/>
            <a:ext cx="6106303" cy="1096899"/>
          </a:xfrm>
        </p:spPr>
        <p:txBody>
          <a:bodyPr/>
          <a:lstStyle/>
          <a:p>
            <a:r>
              <a:rPr lang="en-US" dirty="0"/>
              <a:t>GNC Software Onboarding Lecture #2</a:t>
            </a:r>
          </a:p>
        </p:txBody>
      </p:sp>
    </p:spTree>
    <p:extLst>
      <p:ext uri="{BB962C8B-B14F-4D97-AF65-F5344CB8AC3E}">
        <p14:creationId xmlns:p14="http://schemas.microsoft.com/office/powerpoint/2010/main" val="36825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48E6-6E03-7382-9B66-A9676588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5599-38C7-362A-7D35-48E769448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6855"/>
            <a:ext cx="8596668" cy="466450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embedded system </a:t>
            </a:r>
            <a:r>
              <a:rPr lang="en-US" dirty="0"/>
              <a:t>is a computer system that differs from a desktop computer, laptop, or similar in that it has limited resources</a:t>
            </a:r>
          </a:p>
          <a:p>
            <a:pPr lvl="1"/>
            <a:r>
              <a:rPr lang="en-US" dirty="0"/>
              <a:t>Often limited in size, computational power, memory</a:t>
            </a:r>
          </a:p>
          <a:p>
            <a:r>
              <a:rPr lang="en-US" dirty="0"/>
              <a:t>Typically use the ARM processor architecture instead of Intel/x86 processors found on modern desktop/laptop computers</a:t>
            </a:r>
          </a:p>
          <a:p>
            <a:r>
              <a:rPr lang="en-US" dirty="0"/>
              <a:t>Instead of central processing units (CPUs), we call their embedded counterparts microcontrollers (</a:t>
            </a:r>
            <a:r>
              <a:rPr lang="en-US" b="1" dirty="0"/>
              <a:t>MCUs</a:t>
            </a:r>
            <a:r>
              <a:rPr lang="en-US" dirty="0"/>
              <a:t>) and microprocessors (</a:t>
            </a:r>
            <a:r>
              <a:rPr lang="en-US" b="1" dirty="0"/>
              <a:t>MPUs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MPUs are similar to MCUs, except MPUs typically have more processing power and memory available to them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30" name="Picture 6" descr="Intel's special edition Core i9 9900KS has lower IPC than the 9900K">
            <a:extLst>
              <a:ext uri="{FF2B5EF4-FFF2-40B4-BE49-F238E27FC236}">
                <a16:creationId xmlns:a16="http://schemas.microsoft.com/office/drawing/2014/main" id="{A9BCF230-493B-854F-7268-8A9FF7180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107" y="4734899"/>
            <a:ext cx="2613454" cy="147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F84EF-29CC-0FC5-4DF7-A434C6B73CEE}"/>
              </a:ext>
            </a:extLst>
          </p:cNvPr>
          <p:cNvSpPr txBox="1"/>
          <p:nvPr/>
        </p:nvSpPr>
        <p:spPr>
          <a:xfrm>
            <a:off x="6904504" y="6316755"/>
            <a:ext cx="188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 of a CPU</a:t>
            </a:r>
          </a:p>
        </p:txBody>
      </p:sp>
      <p:pic>
        <p:nvPicPr>
          <p:cNvPr id="1032" name="Picture 8" descr="Buy STM32H725-735 - eStore - STMicroelectronics | Page 3">
            <a:extLst>
              <a:ext uri="{FF2B5EF4-FFF2-40B4-BE49-F238E27FC236}">
                <a16:creationId xmlns:a16="http://schemas.microsoft.com/office/drawing/2014/main" id="{94BD5A01-2495-B538-1B41-CA74AB3FD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110" y="5104318"/>
            <a:ext cx="1673877" cy="167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EB82B9-91C6-1D48-C963-92F64E56264B}"/>
              </a:ext>
            </a:extLst>
          </p:cNvPr>
          <p:cNvSpPr txBox="1"/>
          <p:nvPr/>
        </p:nvSpPr>
        <p:spPr>
          <a:xfrm>
            <a:off x="4120053" y="6368572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an MCU</a:t>
            </a:r>
          </a:p>
        </p:txBody>
      </p:sp>
    </p:spTree>
    <p:extLst>
      <p:ext uri="{BB962C8B-B14F-4D97-AF65-F5344CB8AC3E}">
        <p14:creationId xmlns:p14="http://schemas.microsoft.com/office/powerpoint/2010/main" val="422530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3A4A5-A7F8-C253-39BB-C2D9896C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Components of an Embedded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01DE-C2DF-ED3B-A3BF-336FF4E5F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0000"/>
                </a:solidFill>
              </a:rPr>
              <a:t>MCU/MPU </a:t>
            </a:r>
            <a:r>
              <a:rPr lang="en-US" sz="1400" dirty="0">
                <a:solidFill>
                  <a:schemeClr val="bg1"/>
                </a:solidFill>
              </a:rPr>
              <a:t>- Typically identifiable as the biggest chip with the most pins on the board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accent1"/>
                </a:solidFill>
              </a:rPr>
              <a:t>GPIOs/ports </a:t>
            </a:r>
            <a:r>
              <a:rPr lang="en-US" sz="1400" dirty="0">
                <a:solidFill>
                  <a:schemeClr val="bg1"/>
                </a:solidFill>
              </a:rPr>
              <a:t>– metal contacts exposed through headers, PCB traces, or I/O ports like USB or Ethernet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All these connections lead directly back to the pins on the MCU/MPU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00B0F0"/>
                </a:solidFill>
              </a:rPr>
              <a:t>Memory</a:t>
            </a:r>
            <a:r>
              <a:rPr lang="en-US" sz="1400" dirty="0">
                <a:solidFill>
                  <a:schemeClr val="bg1"/>
                </a:solidFill>
              </a:rPr>
              <a:t> – sometimes integrated on the MCU/MPU itself, sometimes connected separately through additional GPIOs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FFC000"/>
                </a:solidFill>
              </a:rPr>
              <a:t>Peripherals</a:t>
            </a:r>
            <a:r>
              <a:rPr lang="en-US" sz="1400" dirty="0">
                <a:solidFill>
                  <a:schemeClr val="bg1"/>
                </a:solidFill>
              </a:rPr>
              <a:t> – sensors, actuators, displays, human interface devices (keyboards, mice, </a:t>
            </a:r>
            <a:r>
              <a:rPr lang="en-US" sz="1400" dirty="0" err="1">
                <a:solidFill>
                  <a:schemeClr val="bg1"/>
                </a:solidFill>
              </a:rPr>
              <a:t>etc</a:t>
            </a:r>
            <a:r>
              <a:rPr lang="en-US" sz="1400" dirty="0">
                <a:solidFill>
                  <a:schemeClr val="bg1"/>
                </a:solidFill>
              </a:rPr>
              <a:t>), buttons, speakers, microphones, etc.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Raspberry Pi 4 Model B; Broadcom BCM2711 Quad core Cortex-A72 (ARM v8)  64-bit SoC; 8GB DDR4 RAM - Micro Center">
            <a:extLst>
              <a:ext uri="{FF2B5EF4-FFF2-40B4-BE49-F238E27FC236}">
                <a16:creationId xmlns:a16="http://schemas.microsoft.com/office/drawing/2014/main" id="{1A569C86-D3D9-BF4D-9BC8-A717724F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29301" y="1763462"/>
            <a:ext cx="5647266" cy="367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Isosceles Triangle 103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F66DB-6C1E-E559-C3C6-D0723C34483D}"/>
              </a:ext>
            </a:extLst>
          </p:cNvPr>
          <p:cNvSpPr/>
          <p:nvPr/>
        </p:nvSpPr>
        <p:spPr>
          <a:xfrm>
            <a:off x="7574692" y="3002692"/>
            <a:ext cx="729049" cy="729050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D2FC1-F070-2058-A69C-CDD4FFFDD5AF}"/>
              </a:ext>
            </a:extLst>
          </p:cNvPr>
          <p:cNvSpPr/>
          <p:nvPr/>
        </p:nvSpPr>
        <p:spPr>
          <a:xfrm>
            <a:off x="8362256" y="3002692"/>
            <a:ext cx="543625" cy="729050"/>
          </a:xfrm>
          <a:prstGeom prst="rect">
            <a:avLst/>
          </a:prstGeom>
          <a:noFill/>
          <a:ln w="57150">
            <a:solidFill>
              <a:srgbClr val="00B0F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25CB07-3C0A-2EC6-9A99-E52500D6D8AC}"/>
              </a:ext>
            </a:extLst>
          </p:cNvPr>
          <p:cNvSpPr/>
          <p:nvPr/>
        </p:nvSpPr>
        <p:spPr>
          <a:xfrm>
            <a:off x="6969212" y="2347784"/>
            <a:ext cx="2224216" cy="358346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83F72F-30B7-7039-5EE0-8EC58AF5DF14}"/>
              </a:ext>
            </a:extLst>
          </p:cNvPr>
          <p:cNvSpPr/>
          <p:nvPr/>
        </p:nvSpPr>
        <p:spPr>
          <a:xfrm>
            <a:off x="9572557" y="2446639"/>
            <a:ext cx="885641" cy="2310712"/>
          </a:xfrm>
          <a:prstGeom prst="rect">
            <a:avLst/>
          </a:prstGeom>
          <a:noFill/>
          <a:ln w="57150">
            <a:solidFill>
              <a:schemeClr val="accent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8F1F11-24C5-ECC7-1812-F98E5B32A00D}"/>
              </a:ext>
            </a:extLst>
          </p:cNvPr>
          <p:cNvSpPr/>
          <p:nvPr/>
        </p:nvSpPr>
        <p:spPr>
          <a:xfrm>
            <a:off x="6981642" y="4374291"/>
            <a:ext cx="2224215" cy="535459"/>
          </a:xfrm>
          <a:prstGeom prst="rect">
            <a:avLst/>
          </a:prstGeom>
          <a:noFill/>
          <a:ln w="57150">
            <a:solidFill>
              <a:schemeClr val="accent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F906C-CFDB-63AF-D88B-4451B4CDBA65}"/>
              </a:ext>
            </a:extLst>
          </p:cNvPr>
          <p:cNvSpPr/>
          <p:nvPr/>
        </p:nvSpPr>
        <p:spPr>
          <a:xfrm flipH="1">
            <a:off x="6505517" y="3188043"/>
            <a:ext cx="253742" cy="729051"/>
          </a:xfrm>
          <a:prstGeom prst="rect">
            <a:avLst/>
          </a:prstGeom>
          <a:noFill/>
          <a:ln w="571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81E7B-1CB8-9E3C-470F-1872B39AD06D}"/>
              </a:ext>
            </a:extLst>
          </p:cNvPr>
          <p:cNvSpPr/>
          <p:nvPr/>
        </p:nvSpPr>
        <p:spPr>
          <a:xfrm flipH="1">
            <a:off x="6981641" y="2706130"/>
            <a:ext cx="491780" cy="584321"/>
          </a:xfrm>
          <a:prstGeom prst="rect">
            <a:avLst/>
          </a:prstGeom>
          <a:noFill/>
          <a:ln w="5715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97269"/>
                      <a:gd name="connsiteY0" fmla="*/ 0 h 1425903"/>
                      <a:gd name="connsiteX1" fmla="*/ 581117 w 1797269"/>
                      <a:gd name="connsiteY1" fmla="*/ 0 h 1425903"/>
                      <a:gd name="connsiteX2" fmla="*/ 1126289 w 1797269"/>
                      <a:gd name="connsiteY2" fmla="*/ 0 h 1425903"/>
                      <a:gd name="connsiteX3" fmla="*/ 1797269 w 1797269"/>
                      <a:gd name="connsiteY3" fmla="*/ 0 h 1425903"/>
                      <a:gd name="connsiteX4" fmla="*/ 1797269 w 1797269"/>
                      <a:gd name="connsiteY4" fmla="*/ 461042 h 1425903"/>
                      <a:gd name="connsiteX5" fmla="*/ 1797269 w 1797269"/>
                      <a:gd name="connsiteY5" fmla="*/ 907825 h 1425903"/>
                      <a:gd name="connsiteX6" fmla="*/ 1797269 w 1797269"/>
                      <a:gd name="connsiteY6" fmla="*/ 1425903 h 1425903"/>
                      <a:gd name="connsiteX7" fmla="*/ 1198179 w 1797269"/>
                      <a:gd name="connsiteY7" fmla="*/ 1425903 h 1425903"/>
                      <a:gd name="connsiteX8" fmla="*/ 563144 w 1797269"/>
                      <a:gd name="connsiteY8" fmla="*/ 1425903 h 1425903"/>
                      <a:gd name="connsiteX9" fmla="*/ 0 w 1797269"/>
                      <a:gd name="connsiteY9" fmla="*/ 1425903 h 1425903"/>
                      <a:gd name="connsiteX10" fmla="*/ 0 w 1797269"/>
                      <a:gd name="connsiteY10" fmla="*/ 950602 h 1425903"/>
                      <a:gd name="connsiteX11" fmla="*/ 0 w 1797269"/>
                      <a:gd name="connsiteY11" fmla="*/ 489560 h 1425903"/>
                      <a:gd name="connsiteX12" fmla="*/ 0 w 1797269"/>
                      <a:gd name="connsiteY12" fmla="*/ 0 h 1425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97269" h="1425903" extrusionOk="0">
                        <a:moveTo>
                          <a:pt x="0" y="0"/>
                        </a:moveTo>
                        <a:cubicBezTo>
                          <a:pt x="141401" y="-50333"/>
                          <a:pt x="448890" y="34615"/>
                          <a:pt x="581117" y="0"/>
                        </a:cubicBezTo>
                        <a:cubicBezTo>
                          <a:pt x="713344" y="-34615"/>
                          <a:pt x="992864" y="14800"/>
                          <a:pt x="1126289" y="0"/>
                        </a:cubicBezTo>
                        <a:cubicBezTo>
                          <a:pt x="1259714" y="-14800"/>
                          <a:pt x="1529999" y="16335"/>
                          <a:pt x="1797269" y="0"/>
                        </a:cubicBezTo>
                        <a:cubicBezTo>
                          <a:pt x="1840514" y="218355"/>
                          <a:pt x="1775312" y="275289"/>
                          <a:pt x="1797269" y="461042"/>
                        </a:cubicBezTo>
                        <a:cubicBezTo>
                          <a:pt x="1819226" y="646795"/>
                          <a:pt x="1780053" y="757203"/>
                          <a:pt x="1797269" y="907825"/>
                        </a:cubicBezTo>
                        <a:cubicBezTo>
                          <a:pt x="1814485" y="1058447"/>
                          <a:pt x="1790258" y="1291331"/>
                          <a:pt x="1797269" y="1425903"/>
                        </a:cubicBezTo>
                        <a:cubicBezTo>
                          <a:pt x="1504724" y="1488906"/>
                          <a:pt x="1423189" y="1354182"/>
                          <a:pt x="1198179" y="1425903"/>
                        </a:cubicBezTo>
                        <a:cubicBezTo>
                          <a:pt x="973169" y="1497624"/>
                          <a:pt x="762640" y="1377352"/>
                          <a:pt x="563144" y="1425903"/>
                        </a:cubicBezTo>
                        <a:cubicBezTo>
                          <a:pt x="363648" y="1474454"/>
                          <a:pt x="246651" y="1422920"/>
                          <a:pt x="0" y="1425903"/>
                        </a:cubicBezTo>
                        <a:cubicBezTo>
                          <a:pt x="-30140" y="1327189"/>
                          <a:pt x="50016" y="1178108"/>
                          <a:pt x="0" y="950602"/>
                        </a:cubicBezTo>
                        <a:cubicBezTo>
                          <a:pt x="-50016" y="723096"/>
                          <a:pt x="28930" y="692885"/>
                          <a:pt x="0" y="489560"/>
                        </a:cubicBezTo>
                        <a:cubicBezTo>
                          <a:pt x="-28930" y="286235"/>
                          <a:pt x="54172" y="2349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6CD9C5-68F7-7F6E-40E0-759E2F9C71CB}"/>
              </a:ext>
            </a:extLst>
          </p:cNvPr>
          <p:cNvSpPr txBox="1"/>
          <p:nvPr/>
        </p:nvSpPr>
        <p:spPr>
          <a:xfrm>
            <a:off x="7730784" y="5495723"/>
            <a:ext cx="1462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Raspberry Pi</a:t>
            </a:r>
          </a:p>
        </p:txBody>
      </p:sp>
    </p:spTree>
    <p:extLst>
      <p:ext uri="{BB962C8B-B14F-4D97-AF65-F5344CB8AC3E}">
        <p14:creationId xmlns:p14="http://schemas.microsoft.com/office/powerpoint/2010/main" val="341618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3253-4234-B809-CF4A-1C0F2367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MCU interact with the outside world?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CDC77-3405-A9FC-4D7B-DC0D06F4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MCU itself is just a black box that can generate high and low digital signals on each one of its pins</a:t>
            </a:r>
          </a:p>
          <a:p>
            <a:pPr lvl="1"/>
            <a:r>
              <a:rPr lang="en-US" dirty="0"/>
              <a:t>How can we leverage this to cause outside side effects?</a:t>
            </a:r>
          </a:p>
          <a:p>
            <a:r>
              <a:rPr lang="en-US" dirty="0"/>
              <a:t>Basic GPIO functions</a:t>
            </a:r>
          </a:p>
          <a:p>
            <a:pPr lvl="1"/>
            <a:r>
              <a:rPr lang="en-US" dirty="0"/>
              <a:t>Turning an LED on by writing a GPIO pin high</a:t>
            </a:r>
          </a:p>
          <a:p>
            <a:pPr lvl="1"/>
            <a:r>
              <a:rPr lang="en-US" dirty="0"/>
              <a:t>Igniting a rocket motor by writing a GPIO pin high</a:t>
            </a:r>
          </a:p>
          <a:p>
            <a:pPr lvl="1"/>
            <a:r>
              <a:rPr lang="en-US" dirty="0"/>
              <a:t>Responding to a button push through a GPIO input</a:t>
            </a:r>
          </a:p>
          <a:p>
            <a:r>
              <a:rPr lang="en-US" dirty="0"/>
              <a:t>Communication with peripherals</a:t>
            </a:r>
          </a:p>
          <a:p>
            <a:pPr lvl="1"/>
            <a:r>
              <a:rPr lang="en-US" dirty="0"/>
              <a:t>Typically multiple GPIO pins dedicated to sending data to and from a specific peripheral</a:t>
            </a:r>
          </a:p>
          <a:p>
            <a:pPr lvl="1"/>
            <a:r>
              <a:rPr lang="en-US" dirty="0"/>
              <a:t>We have standard ways of doing this called communication protocols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2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18142-2343-CA1B-3509-B16F3774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Communication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4D42-EE5A-457F-1C98-68E500591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device A wants to send a message to device B</a:t>
            </a:r>
          </a:p>
          <a:p>
            <a:r>
              <a:rPr lang="en-US" dirty="0"/>
              <a:t>Let’s dedicate one wire as an output on A and an input on B</a:t>
            </a:r>
          </a:p>
          <a:p>
            <a:r>
              <a:rPr lang="en-US" dirty="0"/>
              <a:t>At the lowest level, any form of communication is just a structured stream of information transmitted through a sequence of bits</a:t>
            </a:r>
          </a:p>
          <a:p>
            <a:pPr lvl="1"/>
            <a:r>
              <a:rPr lang="en-US" dirty="0"/>
              <a:t>Ex. The message ‘Hi’ could be encoded using the the sequence ‘01001000 01101001’ </a:t>
            </a:r>
          </a:p>
          <a:p>
            <a:r>
              <a:rPr lang="en-US" dirty="0"/>
              <a:t>Define a zero as when the wire has a low voltage, and a one as when the wire has a high voltage</a:t>
            </a:r>
          </a:p>
          <a:p>
            <a:r>
              <a:rPr lang="en-US" dirty="0"/>
              <a:t>Every millisecond, transmit the next bit by changing the voltage on the wire to represent the next bit in the message</a:t>
            </a:r>
          </a:p>
          <a:p>
            <a:pPr lvl="1"/>
            <a:r>
              <a:rPr lang="en-US" dirty="0"/>
              <a:t>Our sequence would be low, high, low, low, high, low, low, low,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0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AE1B-FA4D-C77F-1AF9-D064105D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problems with our solution…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F087F-74D9-8616-74F7-6221D455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don’t want to send any message at all?</a:t>
            </a:r>
          </a:p>
          <a:p>
            <a:pPr lvl="1"/>
            <a:r>
              <a:rPr lang="en-US" dirty="0"/>
              <a:t>Currently, holding the wire at a low or high voltage would transmit a steady sequence of 0’s or 1’s</a:t>
            </a:r>
          </a:p>
          <a:p>
            <a:r>
              <a:rPr lang="en-US" dirty="0"/>
              <a:t>What if we want to transmit data at a faster/slower speed?</a:t>
            </a:r>
          </a:p>
          <a:p>
            <a:r>
              <a:rPr lang="en-US" dirty="0"/>
              <a:t>How can we send data from device B to device 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21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02C1-A239-E042-E39E-510993689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0078-333D-9700-B035-6C8BDC92D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en-US" dirty="0"/>
              <a:t>The Universal Asynchronous Receiver/Transmitter (</a:t>
            </a:r>
            <a:r>
              <a:rPr lang="en-US" b="1" dirty="0"/>
              <a:t>UART</a:t>
            </a:r>
            <a:r>
              <a:rPr lang="en-US" dirty="0"/>
              <a:t>) protocol is one of the simplest embedded protocols</a:t>
            </a:r>
          </a:p>
          <a:p>
            <a:r>
              <a:rPr lang="en-US" dirty="0"/>
              <a:t>Two signal wires: RX and TX</a:t>
            </a:r>
          </a:p>
          <a:p>
            <a:r>
              <a:rPr lang="en-US" dirty="0"/>
              <a:t>RX and TX operate identically, but the only difference is the direction of the message being sent</a:t>
            </a:r>
          </a:p>
          <a:p>
            <a:r>
              <a:rPr lang="en-US" dirty="0"/>
              <a:t>Wire is high when idle, and a device will pull its TX pin low to 0 when it wants to send a byte</a:t>
            </a:r>
          </a:p>
          <a:p>
            <a:r>
              <a:rPr lang="en-US" dirty="0"/>
              <a:t>At the end of a byte, set the pin back high</a:t>
            </a:r>
          </a:p>
          <a:p>
            <a:r>
              <a:rPr lang="en-US" dirty="0"/>
              <a:t>Bits are then sent at an agreed upon rate called the </a:t>
            </a:r>
            <a:r>
              <a:rPr lang="en-US" u="sng" dirty="0"/>
              <a:t>baud rate</a:t>
            </a:r>
          </a:p>
        </p:txBody>
      </p:sp>
      <p:pic>
        <p:nvPicPr>
          <p:cNvPr id="4098" name="Picture 2" descr="UART">
            <a:extLst>
              <a:ext uri="{FF2B5EF4-FFF2-40B4-BE49-F238E27FC236}">
                <a16:creationId xmlns:a16="http://schemas.microsoft.com/office/drawing/2014/main" id="{3142869F-B7DE-2BBC-43C8-9A2F635CF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991" y="3429000"/>
            <a:ext cx="4023597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ART">
            <a:extLst>
              <a:ext uri="{FF2B5EF4-FFF2-40B4-BE49-F238E27FC236}">
                <a16:creationId xmlns:a16="http://schemas.microsoft.com/office/drawing/2014/main" id="{11F96A11-6199-E2B8-6D97-DB7980EB4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" y="4526236"/>
            <a:ext cx="7599405" cy="208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45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85D24-217E-18AD-8753-DDE6EAF0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ACC5-713A-E99B-83FC-42CD26C9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UART solve these problems?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FF09-3A9B-F2C5-23BF-153331C3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don’t want to send any message at all?</a:t>
            </a:r>
          </a:p>
          <a:p>
            <a:pPr lvl="1"/>
            <a:r>
              <a:rPr lang="en-US" dirty="0"/>
              <a:t>We can hold the UART line high to indicate that it is idle</a:t>
            </a:r>
          </a:p>
          <a:p>
            <a:pPr lvl="1"/>
            <a:r>
              <a:rPr lang="en-US" dirty="0"/>
              <a:t>When we send a zero to indicate a message start, we send 8 bits and then the message is over</a:t>
            </a:r>
          </a:p>
          <a:p>
            <a:r>
              <a:rPr lang="en-US" dirty="0"/>
              <a:t>What if we want to transmit data at a faster/slower speed?</a:t>
            </a:r>
          </a:p>
          <a:p>
            <a:pPr lvl="1"/>
            <a:r>
              <a:rPr lang="en-US" dirty="0"/>
              <a:t>Both devices agree on a baud rate</a:t>
            </a:r>
          </a:p>
          <a:p>
            <a:r>
              <a:rPr lang="en-US" dirty="0"/>
              <a:t>How can we send data from device B to device A?</a:t>
            </a:r>
          </a:p>
          <a:p>
            <a:pPr lvl="1"/>
            <a:r>
              <a:rPr lang="en-US" dirty="0"/>
              <a:t>Separate RX and TX wires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3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2FBA-790B-64A1-E596-B578D04C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Communicating with multiple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3FCB-6805-8C44-159E-70FDC83B6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problem with UART is that each device needs its own RX/TX pair with the MCU </a:t>
            </a:r>
          </a:p>
          <a:p>
            <a:r>
              <a:rPr lang="en-US" dirty="0"/>
              <a:t>How can we use one wire that multiple devices share?</a:t>
            </a:r>
          </a:p>
          <a:p>
            <a:pPr lvl="1"/>
            <a:r>
              <a:rPr lang="en-US" dirty="0"/>
              <a:t>We need some way to coordinate access to this wire to not create a short circuit</a:t>
            </a:r>
          </a:p>
          <a:p>
            <a:pPr lvl="1"/>
            <a:r>
              <a:rPr lang="en-US" dirty="0"/>
              <a:t>When a device isn’t actively communicating, it needs to </a:t>
            </a:r>
            <a:r>
              <a:rPr lang="en-US" u="sng" dirty="0"/>
              <a:t>not</a:t>
            </a:r>
            <a:r>
              <a:rPr lang="en-US" dirty="0"/>
              <a:t> be driving a 1 or a zero on the shared wire</a:t>
            </a:r>
          </a:p>
          <a:p>
            <a:r>
              <a:rPr lang="en-US" dirty="0"/>
              <a:t>We call this “shared wire” concept a bus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0757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8A675-76C7-4925-986A-E718F79F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Buses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Isosceles Triangle 11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3A3D7FF8-A938-2E1E-22A0-5173988CA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90"/>
            <a:ext cx="8470898" cy="3429260"/>
          </a:xfrm>
        </p:spPr>
        <p:txBody>
          <a:bodyPr>
            <a:normAutofit/>
          </a:bodyPr>
          <a:lstStyle/>
          <a:p>
            <a:r>
              <a:rPr lang="en-US" dirty="0"/>
              <a:t>When we said earlier that digital logic only has two states, that was an oversimplification</a:t>
            </a:r>
          </a:p>
          <a:p>
            <a:r>
              <a:rPr lang="en-US" dirty="0"/>
              <a:t>In digital logic, there is a third state called floating/high impedance, often denoted by the letter ‘Z’</a:t>
            </a:r>
          </a:p>
          <a:p>
            <a:pPr lvl="1"/>
            <a:r>
              <a:rPr lang="en-US" dirty="0"/>
              <a:t>Happens when there is nothing actively driving the wire high or low</a:t>
            </a:r>
          </a:p>
          <a:p>
            <a:r>
              <a:rPr lang="en-US" dirty="0"/>
              <a:t>A bus can utilize this third logic state to have more than one device communicating on a single wire</a:t>
            </a:r>
          </a:p>
          <a:p>
            <a:r>
              <a:rPr lang="en-US" dirty="0"/>
              <a:t>Still, only one device can drive the bus at a time</a:t>
            </a:r>
          </a:p>
          <a:p>
            <a:pPr lvl="1"/>
            <a:r>
              <a:rPr lang="en-US" dirty="0"/>
              <a:t>All other devices must have their output as Z while a device is outputting on the bus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77F5-C6F5-87C1-B51A-0EB9A6EE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Buses (Continued)</a:t>
            </a:r>
          </a:p>
        </p:txBody>
      </p:sp>
      <p:pic>
        <p:nvPicPr>
          <p:cNvPr id="4" name="Content Placeholder 3" descr="A diagram of a medical procedure&#10;&#10;Description automatically generated">
            <a:extLst>
              <a:ext uri="{FF2B5EF4-FFF2-40B4-BE49-F238E27FC236}">
                <a16:creationId xmlns:a16="http://schemas.microsoft.com/office/drawing/2014/main" id="{A711529F-D6BD-8AF6-2C22-51135B6FE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971" y="1755235"/>
            <a:ext cx="3824524" cy="3881437"/>
          </a:xfrm>
          <a:prstGeom prst="rect">
            <a:avLst/>
          </a:prstGeom>
        </p:spPr>
      </p:pic>
      <p:pic>
        <p:nvPicPr>
          <p:cNvPr id="6" name="Picture 5" descr="A diagram of a medical procedure&#10;&#10;Description automatically generated">
            <a:extLst>
              <a:ext uri="{FF2B5EF4-FFF2-40B4-BE49-F238E27FC236}">
                <a16:creationId xmlns:a16="http://schemas.microsoft.com/office/drawing/2014/main" id="{0C4E651F-7747-050D-F6E0-C4A383AD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368" y="1415172"/>
            <a:ext cx="3104182" cy="44859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5C652C-2D97-042C-6973-2BE6044DA821}"/>
              </a:ext>
            </a:extLst>
          </p:cNvPr>
          <p:cNvSpPr txBox="1"/>
          <p:nvPr/>
        </p:nvSpPr>
        <p:spPr>
          <a:xfrm>
            <a:off x="782424" y="5452006"/>
            <a:ext cx="286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RX/TX pair per peripheral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F7CE5-08C8-B82D-4728-DB78F89078BD}"/>
              </a:ext>
            </a:extLst>
          </p:cNvPr>
          <p:cNvSpPr txBox="1"/>
          <p:nvPr/>
        </p:nvSpPr>
        <p:spPr>
          <a:xfrm>
            <a:off x="5824807" y="5821338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RX/TX pair on a bus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3C780-E086-48AD-40DD-C75060340A75}"/>
              </a:ext>
            </a:extLst>
          </p:cNvPr>
          <p:cNvSpPr txBox="1"/>
          <p:nvPr/>
        </p:nvSpPr>
        <p:spPr>
          <a:xfrm>
            <a:off x="1244337" y="6337394"/>
            <a:ext cx="7954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 that UART typically cannot function on a bus. This is just an example</a:t>
            </a:r>
          </a:p>
        </p:txBody>
      </p:sp>
    </p:spTree>
    <p:extLst>
      <p:ext uri="{BB962C8B-B14F-4D97-AF65-F5344CB8AC3E}">
        <p14:creationId xmlns:p14="http://schemas.microsoft.com/office/powerpoint/2010/main" val="334208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46C9-388A-48DC-2FED-9255919F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7E22-A92C-9A34-FB82-72246B98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2823"/>
            <a:ext cx="8596668" cy="5028487"/>
          </a:xfrm>
        </p:spPr>
        <p:txBody>
          <a:bodyPr>
            <a:normAutofit/>
          </a:bodyPr>
          <a:lstStyle/>
          <a:p>
            <a:r>
              <a:rPr lang="en-US" dirty="0"/>
              <a:t>The Serial Peripheral Interface (</a:t>
            </a:r>
            <a:r>
              <a:rPr lang="en-US" b="1" dirty="0"/>
              <a:t>SPI</a:t>
            </a:r>
            <a:r>
              <a:rPr lang="en-US" dirty="0"/>
              <a:t>) introduces the concept of a master and a slave</a:t>
            </a:r>
          </a:p>
          <a:p>
            <a:pPr lvl="1"/>
            <a:r>
              <a:rPr lang="en-US" dirty="0"/>
              <a:t>Master is the MCU, slave is the peripheral</a:t>
            </a:r>
          </a:p>
          <a:p>
            <a:r>
              <a:rPr lang="en-US" dirty="0"/>
              <a:t>Four wires</a:t>
            </a:r>
          </a:p>
          <a:p>
            <a:pPr lvl="1"/>
            <a:r>
              <a:rPr lang="en-US" dirty="0"/>
              <a:t>Master Out Slave In (MOSI) carries data from the master to the slave (BUS)</a:t>
            </a:r>
          </a:p>
          <a:p>
            <a:pPr lvl="1"/>
            <a:r>
              <a:rPr lang="en-US" dirty="0"/>
              <a:t>Master In Slave Out (MISO) carries data from the slave to the master (BUS)</a:t>
            </a:r>
          </a:p>
          <a:p>
            <a:pPr lvl="1"/>
            <a:r>
              <a:rPr lang="en-US" dirty="0"/>
              <a:t>Serial Clock (SCLK) controls the rate at which data is sent</a:t>
            </a:r>
          </a:p>
          <a:p>
            <a:pPr lvl="1"/>
            <a:r>
              <a:rPr lang="en-US" dirty="0"/>
              <a:t>Slave Select / Chip Select (SS/CS) – low when the master activates the slave, high when inactive</a:t>
            </a:r>
          </a:p>
          <a:p>
            <a:r>
              <a:rPr lang="en-US" dirty="0"/>
              <a:t>There is no concept of start/stop bytes as there is in UART</a:t>
            </a:r>
          </a:p>
          <a:p>
            <a:pPr lvl="1"/>
            <a:r>
              <a:rPr lang="en-US" dirty="0"/>
              <a:t>Data is streamed continuously between master and slave</a:t>
            </a:r>
          </a:p>
          <a:p>
            <a:r>
              <a:rPr lang="en-US" dirty="0"/>
              <a:t>On the same SPI bus, multiple slaves can be connected, but they all need their own SS/CS line</a:t>
            </a:r>
          </a:p>
          <a:p>
            <a:pPr lvl="1"/>
            <a:r>
              <a:rPr lang="en-US" dirty="0"/>
              <a:t>So, an SPI bus would consist of shared MOSI, MISO, and SCLK lines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22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02" name="Rectangle 720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4" name="Rectangle 720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06" name="Isosceles Triangle 720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57D71-89A0-1040-47C4-4C0835D1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SPI (Continued)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316E7-DC54-E6A1-52D7-CA9AB3FF284B}"/>
              </a:ext>
            </a:extLst>
          </p:cNvPr>
          <p:cNvSpPr txBox="1"/>
          <p:nvPr/>
        </p:nvSpPr>
        <p:spPr>
          <a:xfrm>
            <a:off x="673754" y="2160590"/>
            <a:ext cx="3973943" cy="3440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Master Out Slave In (MOSI) carries data from the master to the slave (BUS)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Master In Slave Out (MISO) carries data from the slave to the master (BUS)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Serial Clock (SCLK) controls the rate at which data is sent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Slave Select / Chip Select (SS/CS) – low when the master activates the slave, high when inactive</a:t>
            </a:r>
          </a:p>
        </p:txBody>
      </p:sp>
      <p:pic>
        <p:nvPicPr>
          <p:cNvPr id="7170" name="Picture 2" descr="Basics of the SPI Communication Protocol">
            <a:extLst>
              <a:ext uri="{FF2B5EF4-FFF2-40B4-BE49-F238E27FC236}">
                <a16:creationId xmlns:a16="http://schemas.microsoft.com/office/drawing/2014/main" id="{EF623DC8-020B-C5DB-B13C-4FE458EB6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096000" y="860593"/>
            <a:ext cx="5328929" cy="546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08" name="Isosceles Triangle 720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45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2B973-7929-3DD9-7D4A-9B3F2385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SPI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2B53C-0FE4-BF04-0FA8-8CAEA38A0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Master Out Slave In (MOSI) carries data from the master to the slave (BUS)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Master In Slave Out (MISO) carries data from the slave to the master (BUS)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Serial Clock (SCLK) controls the rate at which data is sent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</a:rPr>
              <a:t>Slave Select / Chip Select (SS/CS) – low when the master activates the slave, high when inactive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4" descr="Understanding SPI">
            <a:extLst>
              <a:ext uri="{FF2B5EF4-FFF2-40B4-BE49-F238E27FC236}">
                <a16:creationId xmlns:a16="http://schemas.microsoft.com/office/drawing/2014/main" id="{C8DFB513-F3AE-81AF-5927-4AD1E0D869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647268" y="1999610"/>
            <a:ext cx="6108428" cy="343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3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B642-E9F9-A168-6FEA-F5C76867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I2C</a:t>
            </a:r>
            <a:br>
              <a:rPr lang="en-US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217C8-80BE-7909-7BEA-68E8D80E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404069"/>
          </a:xfrm>
        </p:spPr>
        <p:txBody>
          <a:bodyPr>
            <a:normAutofit/>
          </a:bodyPr>
          <a:lstStyle/>
          <a:p>
            <a:r>
              <a:rPr lang="en-US" dirty="0"/>
              <a:t>Inter-Integrated Circuit (</a:t>
            </a:r>
            <a:r>
              <a:rPr lang="en-US" b="1" dirty="0"/>
              <a:t>I2C</a:t>
            </a:r>
            <a:r>
              <a:rPr lang="en-US" dirty="0"/>
              <a:t>) protocol</a:t>
            </a:r>
          </a:p>
          <a:p>
            <a:r>
              <a:rPr lang="en-US" dirty="0"/>
              <a:t>Two wires: SDA and SCL</a:t>
            </a:r>
          </a:p>
          <a:p>
            <a:pPr lvl="1"/>
            <a:r>
              <a:rPr lang="en-US" dirty="0"/>
              <a:t>SDA (Serial Data) carries the data (BUS)</a:t>
            </a:r>
          </a:p>
          <a:p>
            <a:pPr lvl="1"/>
            <a:r>
              <a:rPr lang="en-US" dirty="0"/>
              <a:t>SCL (Serial Clock) carries a clock signal</a:t>
            </a:r>
          </a:p>
          <a:p>
            <a:r>
              <a:rPr lang="en-US" dirty="0"/>
              <a:t>As in SPI, multiple slaves can be connected to the same SDA and SCL lines</a:t>
            </a:r>
          </a:p>
          <a:p>
            <a:pPr lvl="1"/>
            <a:r>
              <a:rPr lang="en-US" dirty="0"/>
              <a:t>We distinguish between slaves by giving them unique 8 byte addresses</a:t>
            </a:r>
          </a:p>
          <a:p>
            <a:pPr lvl="1"/>
            <a:r>
              <a:rPr lang="en-US" dirty="0"/>
              <a:t>A device will only take control of the bus if it detects its address on the bus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0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4F2F-F4D3-2325-B8B9-9475D2F1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Responding to Real-Time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272C-0FA6-92FC-D0DC-F271CECF3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Imagine a system where a button press needs to cause some immediate action to be taken</a:t>
            </a:r>
          </a:p>
          <a:p>
            <a:r>
              <a:rPr lang="en-US" dirty="0"/>
              <a:t>We could read the GPIO input every so often and perform the action when we read it as high (polling)</a:t>
            </a:r>
          </a:p>
          <a:p>
            <a:pPr lvl="1"/>
            <a:r>
              <a:rPr lang="en-US" dirty="0"/>
              <a:t>Waste of computation time</a:t>
            </a:r>
          </a:p>
          <a:p>
            <a:pPr lvl="1"/>
            <a:r>
              <a:rPr lang="en-US" dirty="0"/>
              <a:t>Now our entire software is bound to this checking loop, since we must always be ready to respond to the event</a:t>
            </a:r>
          </a:p>
          <a:p>
            <a:r>
              <a:rPr lang="en-US" b="1" dirty="0"/>
              <a:t>Interrupts</a:t>
            </a:r>
            <a:r>
              <a:rPr lang="en-US" dirty="0"/>
              <a:t> eliminate the need to poll by stopping the regular flow of code execution at a hardware level</a:t>
            </a:r>
          </a:p>
          <a:p>
            <a:r>
              <a:rPr lang="en-US" dirty="0"/>
              <a:t>Once the button is pressed, an interrupt will be triggered and the MCU will jump to a special function called an Interrupt Service Routine (</a:t>
            </a:r>
            <a:r>
              <a:rPr lang="en-US" b="1" dirty="0"/>
              <a:t>ISR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We then perform our action in the ISR</a:t>
            </a:r>
          </a:p>
          <a:p>
            <a:r>
              <a:rPr lang="en-US" dirty="0"/>
              <a:t>Code that was being executed when the interrupt fires resumes execution as if nothing ever happened </a:t>
            </a:r>
          </a:p>
        </p:txBody>
      </p:sp>
    </p:spTree>
    <p:extLst>
      <p:ext uri="{BB962C8B-B14F-4D97-AF65-F5344CB8AC3E}">
        <p14:creationId xmlns:p14="http://schemas.microsoft.com/office/powerpoint/2010/main" val="397826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43EF-5710-D50E-1087-47C8CA1E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8389"/>
            <a:ext cx="8596668" cy="1320800"/>
          </a:xfrm>
        </p:spPr>
        <p:txBody>
          <a:bodyPr/>
          <a:lstStyle/>
          <a:p>
            <a:r>
              <a:rPr lang="en-US" dirty="0"/>
              <a:t>Interrupts and Communication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92C85-6CC5-7FFF-2917-2BDCC938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1606"/>
            <a:ext cx="8596668" cy="3880773"/>
          </a:xfrm>
        </p:spPr>
        <p:txBody>
          <a:bodyPr/>
          <a:lstStyle/>
          <a:p>
            <a:r>
              <a:rPr lang="en-US" dirty="0"/>
              <a:t>Say our MCU is waiting for data from another device over UART. How can we tell when data is available for us to process?</a:t>
            </a:r>
          </a:p>
          <a:p>
            <a:r>
              <a:rPr lang="en-US" dirty="0"/>
              <a:t>Create an ISR that fires when we receive a byte over UART</a:t>
            </a:r>
          </a:p>
          <a:p>
            <a:pPr lvl="1"/>
            <a:r>
              <a:rPr lang="en-US" dirty="0"/>
              <a:t>From that ISR, perform whatever processing we need to do on that byte</a:t>
            </a:r>
          </a:p>
        </p:txBody>
      </p:sp>
    </p:spTree>
    <p:extLst>
      <p:ext uri="{BB962C8B-B14F-4D97-AF65-F5344CB8AC3E}">
        <p14:creationId xmlns:p14="http://schemas.microsoft.com/office/powerpoint/2010/main" val="3796956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26295-95EA-21BC-6C80-509BAD15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STM32 HAL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4F3C6-C5CA-254C-6426-F3AA5FCF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/>
              <a:t>In GNC, we typically use MCUs from a company called STMicroelectronics (STM)</a:t>
            </a:r>
          </a:p>
          <a:p>
            <a:pPr lvl="1"/>
            <a:r>
              <a:rPr lang="en-US" dirty="0"/>
              <a:t>Their MCUs are broadly named “STM32”</a:t>
            </a:r>
          </a:p>
          <a:p>
            <a:r>
              <a:rPr lang="en-US" dirty="0"/>
              <a:t>While the physical details of the chips differ across specific STM32 products, they are similar enough that STM offers a generic library for their line of MCUs called the Hardware Abstraction Library (</a:t>
            </a:r>
            <a:r>
              <a:rPr lang="en-US" b="1" dirty="0"/>
              <a:t>HAL</a:t>
            </a:r>
            <a:r>
              <a:rPr lang="en-US" dirty="0"/>
              <a:t>)</a:t>
            </a:r>
          </a:p>
          <a:p>
            <a:r>
              <a:rPr lang="en-US" dirty="0"/>
              <a:t>It contains functions to control all of the communication protocols we covered previously, and then some</a:t>
            </a:r>
          </a:p>
          <a:p>
            <a:r>
              <a:rPr lang="en-US" dirty="0"/>
              <a:t>Allows for control of individual GPIOs, writing them high or low</a:t>
            </a:r>
          </a:p>
          <a:p>
            <a:r>
              <a:rPr lang="en-US" dirty="0"/>
              <a:t>Also includes many other on-chip peripherals not covered in this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3429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40F5-79B1-177D-940B-6089A89E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3485-F4BC-8EA5-8899-8692F1E0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45314"/>
          </a:xfrm>
        </p:spPr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 and do exercise 2</a:t>
            </a:r>
          </a:p>
          <a:p>
            <a:pPr lvl="1"/>
            <a:r>
              <a:rPr lang="en-US" dirty="0"/>
              <a:t>1. Run “git clone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2. Create a branch by running “git checkout –b &lt;first name&gt;-exercise2”</a:t>
            </a:r>
          </a:p>
          <a:p>
            <a:pPr lvl="2"/>
            <a:r>
              <a:rPr lang="en-US" dirty="0"/>
              <a:t>Ex. Sam would run “git checkout –b sam-exercise2’</a:t>
            </a:r>
          </a:p>
          <a:p>
            <a:pPr lvl="2"/>
            <a:r>
              <a:rPr lang="en-US" dirty="0"/>
              <a:t>This creates a new branch</a:t>
            </a:r>
          </a:p>
          <a:p>
            <a:pPr lvl="1"/>
            <a:r>
              <a:rPr lang="en-US" dirty="0"/>
              <a:t>3. Do the exercise following the instructions in the exercise 2 README</a:t>
            </a:r>
          </a:p>
          <a:p>
            <a:pPr lvl="1"/>
            <a:r>
              <a:rPr lang="en-US" dirty="0"/>
              <a:t>4. Stage your changes by running “git add .”</a:t>
            </a:r>
          </a:p>
          <a:p>
            <a:pPr lvl="1"/>
            <a:r>
              <a:rPr lang="en-US" dirty="0"/>
              <a:t>5. Commit your changes by running “git commit –m &lt;commit message&gt;”</a:t>
            </a:r>
          </a:p>
          <a:p>
            <a:pPr lvl="2"/>
            <a:r>
              <a:rPr lang="en-US" dirty="0"/>
              <a:t>Ex. git commit –m “Sam exercise 2”</a:t>
            </a:r>
          </a:p>
          <a:p>
            <a:pPr lvl="1"/>
            <a:r>
              <a:rPr lang="en-US" dirty="0"/>
              <a:t>6. Push your changes by running “git push origin &lt;first name&gt;-exercise2”</a:t>
            </a:r>
          </a:p>
          <a:p>
            <a:pPr lvl="1"/>
            <a:r>
              <a:rPr lang="en-US" dirty="0"/>
              <a:t>7. Create a pull request in GitHub to merge your branch into the main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4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49CB-627F-381D-5336-51DE7C13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413C-CF5E-E5A8-2919-EF081DBA4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404534"/>
            <a:ext cx="9196552" cy="1646302"/>
          </a:xfrm>
        </p:spPr>
        <p:txBody>
          <a:bodyPr/>
          <a:lstStyle/>
          <a:p>
            <a:r>
              <a:rPr lang="en-US" dirty="0"/>
              <a:t>Reference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59FD6-C71A-A571-13B7-6E15EEE91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0250" y="4050836"/>
            <a:ext cx="6106303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747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55" name="Isosceles Triangle 615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64C2D-1ED7-19B7-F28E-9FBDE7FD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I2C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6C1DF-6045-05D1-816A-2D5CE20E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98" y="2160589"/>
            <a:ext cx="4561200" cy="405394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Steps in I2C communication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1. Start Bit - Master pulls the idle SDA line low before SCL goes low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2. Slave Address – Master transmits the address of the slave to communicate with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3. Read/Write – Master sends a 1 to read data, 0 to write data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3. Slave Acknowledge – Slave sends a 0 to accept, 1 to reject the request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4. Data – Master or slave 8 bits, depending on read/write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5a (Read). Master Acknowledge – Master sends a 0 to accept, 1 to reject the data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5b (Write). Slave Acknowledge – Slave sends a 0 to accept, 1 to reject the data</a:t>
            </a:r>
          </a:p>
          <a:p>
            <a:pPr lvl="1">
              <a:lnSpc>
                <a:spcPct val="90000"/>
              </a:lnSpc>
            </a:pPr>
            <a:r>
              <a:rPr lang="en-US" sz="1300" dirty="0">
                <a:solidFill>
                  <a:schemeClr val="bg1"/>
                </a:solidFill>
              </a:rPr>
              <a:t> 6. Stop bit – Master releases SDA line to high after SCL goes high </a:t>
            </a:r>
          </a:p>
          <a:p>
            <a:pPr>
              <a:lnSpc>
                <a:spcPct val="90000"/>
              </a:lnSpc>
            </a:pP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6146" name="Picture 2" descr="Understanding I2C">
            <a:extLst>
              <a:ext uri="{FF2B5EF4-FFF2-40B4-BE49-F238E27FC236}">
                <a16:creationId xmlns:a16="http://schemas.microsoft.com/office/drawing/2014/main" id="{E66F627A-1D76-5461-E11A-CBBD974AE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9036" y="1887944"/>
            <a:ext cx="7556466" cy="425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7" name="Isosceles Triangle 615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736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4360</TotalTime>
  <Words>1899</Words>
  <Application>Microsoft Macintosh PowerPoint</Application>
  <PresentationFormat>Widescreen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</vt:lpstr>
      <vt:lpstr>Embedded Systems</vt:lpstr>
      <vt:lpstr>What is an Embedded System?</vt:lpstr>
      <vt:lpstr>Components of an Embedded System</vt:lpstr>
      <vt:lpstr>How does the MCU interact with the outside world?</vt:lpstr>
      <vt:lpstr>A Simple Communication Protocol</vt:lpstr>
      <vt:lpstr>A few problems with our solution…</vt:lpstr>
      <vt:lpstr>UART</vt:lpstr>
      <vt:lpstr>How does UART solve these problems?</vt:lpstr>
      <vt:lpstr>Communicating with multiple devices</vt:lpstr>
      <vt:lpstr>Buses</vt:lpstr>
      <vt:lpstr>Buses (Continued)</vt:lpstr>
      <vt:lpstr>SPI</vt:lpstr>
      <vt:lpstr>SPI (Continued)</vt:lpstr>
      <vt:lpstr>SPI (Continued)</vt:lpstr>
      <vt:lpstr>I2C </vt:lpstr>
      <vt:lpstr>Responding to Real-Time Events</vt:lpstr>
      <vt:lpstr>Interrupts and Communication Protocols</vt:lpstr>
      <vt:lpstr>STM32 HAL</vt:lpstr>
      <vt:lpstr>Practice Exercises</vt:lpstr>
      <vt:lpstr>Reference Materials</vt:lpstr>
      <vt:lpstr>I2C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Peterson, Samuel I</dc:creator>
  <cp:lastModifiedBy>Peterson, Samuel I</cp:lastModifiedBy>
  <cp:revision>8</cp:revision>
  <dcterms:created xsi:type="dcterms:W3CDTF">2025-08-14T01:21:55Z</dcterms:created>
  <dcterms:modified xsi:type="dcterms:W3CDTF">2025-08-20T20:54:57Z</dcterms:modified>
</cp:coreProperties>
</file>