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gatech.edu/gnc/software-onboard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2-Kernel-features/00-Developer-docs" TargetMode="External"/><Relationship Id="rId2" Type="http://schemas.openxmlformats.org/officeDocument/2006/relationships/hyperlink" Target="https://www.freertos.org/Documentation/01-FreeRTOS-quick-start/01-Beginners-guide/00-Overvie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gatech.edu/gnc/flight-software/tree/refactoring-main/Tas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904B-805C-E9DC-B42F-FF88CD12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24" y="2404534"/>
            <a:ext cx="9312165" cy="1646302"/>
          </a:xfrm>
        </p:spPr>
        <p:txBody>
          <a:bodyPr/>
          <a:lstStyle/>
          <a:p>
            <a:r>
              <a:rPr lang="en-US" dirty="0"/>
              <a:t>Real-Time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346C7-D050-58D3-ED3D-C58EFB989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540822" cy="1096899"/>
          </a:xfrm>
        </p:spPr>
        <p:txBody>
          <a:bodyPr/>
          <a:lstStyle/>
          <a:p>
            <a:r>
              <a:rPr lang="en-US" dirty="0"/>
              <a:t>GNC Software Onboarding Lecture #3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4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C7F6-61FE-4C7C-75D6-F04026A9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Operating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83B2-53E7-2C0F-9B7C-CC2579A3D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MacOS, Windows, Linux</a:t>
            </a:r>
          </a:p>
          <a:p>
            <a:r>
              <a:rPr lang="en-US" dirty="0"/>
              <a:t>An </a:t>
            </a:r>
            <a:r>
              <a:rPr lang="en-US" b="1" dirty="0"/>
              <a:t>operating system </a:t>
            </a:r>
            <a:r>
              <a:rPr lang="en-US" dirty="0"/>
              <a:t>(OS) is software that acts as an intermediate layer between user programs and the computer’s hardware</a:t>
            </a:r>
          </a:p>
          <a:p>
            <a:r>
              <a:rPr lang="en-US" dirty="0"/>
              <a:t>Responsibilities</a:t>
            </a:r>
          </a:p>
          <a:p>
            <a:pPr lvl="1"/>
            <a:r>
              <a:rPr lang="en-US" dirty="0"/>
              <a:t>Allocating CPU time between user programs</a:t>
            </a:r>
          </a:p>
          <a:p>
            <a:pPr lvl="1"/>
            <a:r>
              <a:rPr lang="en-US" dirty="0"/>
              <a:t>Delegating memory to each program</a:t>
            </a:r>
          </a:p>
          <a:p>
            <a:pPr lvl="1"/>
            <a:r>
              <a:rPr lang="en-US" dirty="0"/>
              <a:t>Interacting with the hardware on the computer – memory, storage, USB devices, displays</a:t>
            </a:r>
          </a:p>
          <a:p>
            <a:pPr lvl="2"/>
            <a:r>
              <a:rPr lang="en-US" dirty="0"/>
              <a:t>The OS will allow user programs to indirectly control this hardware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CB48-4E59-BB0D-662D-131A1645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“Real-Time”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4A52-65F6-F454-397D-1DFE953D5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 a desktop environment, operating systems may go several milliseconds between executing tasks</a:t>
            </a:r>
          </a:p>
          <a:p>
            <a:pPr lvl="1"/>
            <a:r>
              <a:rPr lang="en-US" dirty="0"/>
              <a:t>Usually, this delay is still not noticeable to users</a:t>
            </a:r>
          </a:p>
          <a:p>
            <a:pPr lvl="1"/>
            <a:r>
              <a:rPr lang="en-US" dirty="0"/>
              <a:t>Also caused by background processes</a:t>
            </a:r>
          </a:p>
          <a:p>
            <a:r>
              <a:rPr lang="en-US" dirty="0"/>
              <a:t>This is acceptable for systems in which it is not strictly necessary that things happen exactly when they need to</a:t>
            </a:r>
          </a:p>
          <a:p>
            <a:pPr lvl="1"/>
            <a:r>
              <a:rPr lang="en-US" dirty="0"/>
              <a:t>If you click your mouse and there is a few millisecond delay, it’s not the end of the world</a:t>
            </a:r>
          </a:p>
          <a:p>
            <a:r>
              <a:rPr lang="en-US" dirty="0"/>
              <a:t>In a rocket, what if the OS takes a few milliseconds longer to get data from a sensor?</a:t>
            </a:r>
          </a:p>
          <a:p>
            <a:pPr lvl="1"/>
            <a:r>
              <a:rPr lang="en-US" dirty="0"/>
              <a:t>Now the control loop is lagging behind the true state of the rocket, and we all of a sudden run into some pretty serious problems</a:t>
            </a:r>
          </a:p>
          <a:p>
            <a:r>
              <a:rPr lang="en-US" dirty="0"/>
              <a:t>In rocket flight software, precise timing is </a:t>
            </a:r>
            <a:r>
              <a:rPr lang="en-US" u="sng" dirty="0"/>
              <a:t>critical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0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06CDA-69BE-6478-F50F-76DA787F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Operating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4E0D5-3925-E244-FCC2-00A3BD76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real-time operating system </a:t>
            </a:r>
            <a:r>
              <a:rPr lang="en-US" dirty="0"/>
              <a:t>(RTOS) is an operating system that specializes in responding quickly to real-time events</a:t>
            </a:r>
          </a:p>
          <a:p>
            <a:r>
              <a:rPr lang="en-US" dirty="0"/>
              <a:t>GNC uses a free and open-source solution developed by Amazon called </a:t>
            </a:r>
            <a:r>
              <a:rPr lang="en-US" b="1" dirty="0" err="1"/>
              <a:t>FreeRTOS</a:t>
            </a:r>
            <a:endParaRPr lang="en-US" b="1" dirty="0"/>
          </a:p>
          <a:p>
            <a:r>
              <a:rPr lang="en-US" dirty="0"/>
              <a:t>Components of </a:t>
            </a:r>
            <a:r>
              <a:rPr lang="en-US" dirty="0" err="1"/>
              <a:t>FreeRTOS</a:t>
            </a:r>
            <a:endParaRPr lang="en-US" dirty="0"/>
          </a:p>
          <a:p>
            <a:pPr lvl="1"/>
            <a:r>
              <a:rPr lang="en-US" dirty="0"/>
              <a:t>Tasks – independent loops that perform some dedicated function </a:t>
            </a:r>
          </a:p>
          <a:p>
            <a:pPr lvl="1"/>
            <a:r>
              <a:rPr lang="en-US" dirty="0"/>
              <a:t>Notifications – allows tasks to send signals to each other</a:t>
            </a:r>
          </a:p>
          <a:p>
            <a:pPr lvl="1"/>
            <a:r>
              <a:rPr lang="en-US" dirty="0"/>
              <a:t>Stream buffers – allows tasks to send data to each other</a:t>
            </a:r>
          </a:p>
          <a:p>
            <a:pPr lvl="1"/>
            <a:r>
              <a:rPr lang="en-US" dirty="0"/>
              <a:t>Mutexes – guarantees that only one task is accessing a resource at a time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83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E25EA-352B-3E45-78A8-5DE09267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Tasks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7D287-0C69-2CD8-D0CE-C2144D16A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A task is the basic unit of execution in </a:t>
            </a:r>
            <a:r>
              <a:rPr lang="en-US" dirty="0" err="1">
                <a:solidFill>
                  <a:schemeClr val="bg1"/>
                </a:solidFill>
              </a:rPr>
              <a:t>FreeRTOS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They are functions that continuously loop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Only one task can truly be running at a time, but the scheduler switches between tasks extremely quickly to give the illusion that they are executing in parallel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Tasks have specific states: ready, blocked, running, suspended</a:t>
            </a:r>
            <a:endParaRPr lang="en-US" b="0" i="0" u="none" strike="noStrike" dirty="0">
              <a:solidFill>
                <a:schemeClr val="bg1"/>
              </a:solidFill>
              <a:effectLst/>
            </a:endParaRPr>
          </a:p>
          <a:p>
            <a:pPr>
              <a:lnSpc>
                <a:spcPct val="90000"/>
              </a:lnSpc>
            </a:pPr>
            <a:endParaRPr lang="en-US" b="0" i="0" u="none" strike="noStrike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 descr="A diagram of a process&#10;&#10;Description automatically generated">
            <a:extLst>
              <a:ext uri="{FF2B5EF4-FFF2-40B4-BE49-F238E27FC236}">
                <a16:creationId xmlns:a16="http://schemas.microsoft.com/office/drawing/2014/main" id="{F87E7767-4995-D1B6-7597-97DEFC7B3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095309"/>
            <a:ext cx="5143500" cy="4654866"/>
          </a:xfrm>
          <a:prstGeom prst="rect">
            <a:avLst/>
          </a:prstGeom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8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F7CB-AB8C-09DC-C329-6DC88EC5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6A27B-C1B1-A054-BCA7-0113E7EBA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that in our flight software, we need to wait for some external event to happen before we begin logging data</a:t>
            </a:r>
          </a:p>
          <a:p>
            <a:pPr lvl="1"/>
            <a:r>
              <a:rPr lang="en-US" dirty="0"/>
              <a:t>Ex. Waiting for a “go” signal from ground station</a:t>
            </a:r>
          </a:p>
          <a:p>
            <a:r>
              <a:rPr lang="en-US" dirty="0"/>
              <a:t>In the task that logs data, wait on a notification from another task that handles telemetry</a:t>
            </a:r>
          </a:p>
          <a:p>
            <a:r>
              <a:rPr lang="en-US" dirty="0"/>
              <a:t>When we receive a notification, check that it is the “go” signal</a:t>
            </a:r>
          </a:p>
        </p:txBody>
      </p:sp>
    </p:spTree>
    <p:extLst>
      <p:ext uri="{BB962C8B-B14F-4D97-AF65-F5344CB8AC3E}">
        <p14:creationId xmlns:p14="http://schemas.microsoft.com/office/powerpoint/2010/main" val="2522901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F0CC-4CCB-106F-AA85-D96953E2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Buffers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CF8B5-E8AE-A986-C3CD-F03E37D5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we have task A that produces some data such as sensor readings, and we want to process that data in task B</a:t>
            </a:r>
          </a:p>
          <a:p>
            <a:pPr lvl="1"/>
            <a:r>
              <a:rPr lang="en-US" dirty="0"/>
              <a:t>This frees task A to read more sensor data while task B is processing</a:t>
            </a:r>
          </a:p>
          <a:p>
            <a:r>
              <a:rPr lang="en-US" dirty="0"/>
              <a:t>We could use a </a:t>
            </a:r>
            <a:r>
              <a:rPr lang="en-US" b="1" dirty="0"/>
              <a:t>stream buffer </a:t>
            </a:r>
            <a:r>
              <a:rPr lang="en-US" dirty="0"/>
              <a:t>to send sensor readings from A to B</a:t>
            </a:r>
          </a:p>
          <a:p>
            <a:r>
              <a:rPr lang="en-US" dirty="0"/>
              <a:t>You can think of a stream buffer as a pipe from task A to task B through which task A will send data and task B will receive it</a:t>
            </a:r>
          </a:p>
          <a:p>
            <a:r>
              <a:rPr lang="en-US" dirty="0"/>
              <a:t>Task B will wait for data in the stream buffer and process it</a:t>
            </a:r>
          </a:p>
        </p:txBody>
      </p:sp>
    </p:spTree>
    <p:extLst>
      <p:ext uri="{BB962C8B-B14F-4D97-AF65-F5344CB8AC3E}">
        <p14:creationId xmlns:p14="http://schemas.microsoft.com/office/powerpoint/2010/main" val="18786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733C-1EDD-F17E-A797-245700F3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2AB71-9CEF-7822-5E44-7ADF1AF81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866059" cy="3880773"/>
          </a:xfrm>
        </p:spPr>
        <p:txBody>
          <a:bodyPr>
            <a:normAutofit/>
          </a:bodyPr>
          <a:lstStyle/>
          <a:p>
            <a:r>
              <a:rPr lang="en-US" dirty="0"/>
              <a:t>Say that instead of sending data from one task to another, we want to share some data between an arbitrary number of tasks</a:t>
            </a:r>
          </a:p>
          <a:p>
            <a:r>
              <a:rPr lang="en-US" dirty="0"/>
              <a:t>We </a:t>
            </a:r>
            <a:r>
              <a:rPr lang="en-US" b="1" u="sng" dirty="0"/>
              <a:t>cannot</a:t>
            </a:r>
            <a:r>
              <a:rPr lang="en-US" dirty="0"/>
              <a:t> just create a global variable and read/modify it in each task that needs it</a:t>
            </a:r>
          </a:p>
          <a:p>
            <a:pPr lvl="1"/>
            <a:r>
              <a:rPr lang="en-US" dirty="0"/>
              <a:t>This creates undefined behavior, as we may switch to a different task in the middle of modifying that global variable</a:t>
            </a:r>
          </a:p>
          <a:p>
            <a:r>
              <a:rPr lang="en-US" dirty="0"/>
              <a:t>Instead, one solution is to create a </a:t>
            </a:r>
            <a:r>
              <a:rPr lang="en-US" b="1" dirty="0"/>
              <a:t>mutex</a:t>
            </a:r>
          </a:p>
          <a:p>
            <a:r>
              <a:rPr lang="en-US" dirty="0"/>
              <a:t>A mutex signals access to a shared resource between tasks such that only one task can own that resource at a time</a:t>
            </a:r>
          </a:p>
          <a:p>
            <a:pPr lvl="1"/>
            <a:r>
              <a:rPr lang="en-US" dirty="0"/>
              <a:t>Before modifying/reading a shared variable, you must take ownership of the mutex</a:t>
            </a:r>
          </a:p>
          <a:p>
            <a:pPr lvl="1"/>
            <a:r>
              <a:rPr lang="en-US" dirty="0"/>
              <a:t>It is not guaranteed that the resource will be available, so you can specify a timeout</a:t>
            </a:r>
          </a:p>
        </p:txBody>
      </p:sp>
    </p:spTree>
    <p:extLst>
      <p:ext uri="{BB962C8B-B14F-4D97-AF65-F5344CB8AC3E}">
        <p14:creationId xmlns:p14="http://schemas.microsoft.com/office/powerpoint/2010/main" val="374030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3502-76E2-388D-79DC-1033FB67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8BC3-E123-2A84-DB2F-B5D961A68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https://github.gatech.edu/gnc/software-onboarding</a:t>
            </a:r>
            <a:r>
              <a:rPr lang="en-US" dirty="0"/>
              <a:t> and do exercise 3</a:t>
            </a:r>
          </a:p>
          <a:p>
            <a:pPr lvl="1"/>
            <a:r>
              <a:rPr lang="en-US" dirty="0"/>
              <a:t>1. Run “git clone </a:t>
            </a:r>
            <a:r>
              <a:rPr lang="en-US" dirty="0">
                <a:hlinkClick r:id="rId2"/>
              </a:rPr>
              <a:t>https://github.gatech.edu/gnc/software-onboarding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2. Create a branch by running “git checkout –b &lt;first name&gt;-exercise3”</a:t>
            </a:r>
          </a:p>
          <a:p>
            <a:pPr lvl="2"/>
            <a:r>
              <a:rPr lang="en-US" dirty="0"/>
              <a:t>Ex. Sam would run “git checkout –b sam-exercise3’</a:t>
            </a:r>
          </a:p>
          <a:p>
            <a:pPr lvl="2"/>
            <a:r>
              <a:rPr lang="en-US" dirty="0"/>
              <a:t>This creates a new branch</a:t>
            </a:r>
          </a:p>
          <a:p>
            <a:pPr lvl="1"/>
            <a:r>
              <a:rPr lang="en-US" dirty="0"/>
              <a:t>3. Do the exercise following the instructions in the exercise 3 README</a:t>
            </a:r>
          </a:p>
          <a:p>
            <a:pPr lvl="1"/>
            <a:r>
              <a:rPr lang="en-US" dirty="0"/>
              <a:t>4. Stage your changes by running “git add .”</a:t>
            </a:r>
          </a:p>
          <a:p>
            <a:pPr lvl="1"/>
            <a:r>
              <a:rPr lang="en-US" dirty="0"/>
              <a:t>5. Commit your changes by running “git commit –m &lt;commit message&gt;”</a:t>
            </a:r>
          </a:p>
          <a:p>
            <a:pPr lvl="2"/>
            <a:r>
              <a:rPr lang="en-US" dirty="0"/>
              <a:t>Ex. git commit –m “Sam exercise 3”</a:t>
            </a:r>
          </a:p>
          <a:p>
            <a:pPr lvl="1"/>
            <a:r>
              <a:rPr lang="en-US" dirty="0"/>
              <a:t>6. Push your changes by running “git push origin &lt;first name&gt;-exercise3”</a:t>
            </a:r>
          </a:p>
          <a:p>
            <a:pPr lvl="1"/>
            <a:r>
              <a:rPr lang="en-US" dirty="0"/>
              <a:t>7. Create a pull request in GitHub to merge your branch into the main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779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6B02-55BF-F757-BCAC-0858C8A2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31A5-2FD4-300E-67BD-5E5B12830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24" y="2404534"/>
            <a:ext cx="9312165" cy="1646302"/>
          </a:xfrm>
        </p:spPr>
        <p:txBody>
          <a:bodyPr/>
          <a:lstStyle/>
          <a:p>
            <a:r>
              <a:rPr lang="en-US" dirty="0"/>
              <a:t>Reference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E40C-8EDB-F0FF-346A-5005244A8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540822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8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2AFF-81EA-4A88-45BD-BEDD3BA0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D978-8B2E-D2F8-E62F-96913242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https://www.freertos.org/Documentation/01-FreeRTOS-quick-start/01-Beginners-guide/00-Overview</a:t>
            </a:r>
            <a:r>
              <a:rPr lang="en-US" dirty="0"/>
              <a:t> – Beginner’s guide to </a:t>
            </a:r>
            <a:r>
              <a:rPr lang="en-US" dirty="0" err="1"/>
              <a:t>FreeRTOS</a:t>
            </a:r>
            <a:endParaRPr lang="en-US" dirty="0"/>
          </a:p>
          <a:p>
            <a:r>
              <a:rPr lang="en-US" dirty="0">
                <a:hlinkClick r:id="rId3"/>
              </a:rPr>
              <a:t>https://www.freertos.org/Documentation/02-Kernel/02-Kernel-features/00-Developer-docs</a:t>
            </a:r>
            <a:r>
              <a:rPr lang="en-US" dirty="0"/>
              <a:t> - </a:t>
            </a:r>
            <a:r>
              <a:rPr lang="en-US" dirty="0" err="1"/>
              <a:t>FreeRTOS</a:t>
            </a:r>
            <a:r>
              <a:rPr lang="en-US" dirty="0"/>
              <a:t> documentation</a:t>
            </a:r>
          </a:p>
          <a:p>
            <a:r>
              <a:rPr lang="en-US" dirty="0">
                <a:hlinkClick r:id="rId4"/>
              </a:rPr>
              <a:t>https://github.gatech.edu/gnc/flight-software/tree/refactoring-main/Tasks</a:t>
            </a:r>
            <a:r>
              <a:rPr lang="en-US" dirty="0"/>
              <a:t> – a few </a:t>
            </a:r>
            <a:r>
              <a:rPr lang="en-US" dirty="0" err="1"/>
              <a:t>FreeRTOS</a:t>
            </a:r>
            <a:r>
              <a:rPr lang="en-US" dirty="0"/>
              <a:t> tasks used in the current flight software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8159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6802</TotalTime>
  <Words>867</Words>
  <Application>Microsoft Macintosh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Real-Time Operating Systems</vt:lpstr>
      <vt:lpstr>What is an Operating System?</vt:lpstr>
      <vt:lpstr>What Does “Real-Time” Mean?</vt:lpstr>
      <vt:lpstr>Real-Time Operating Systems</vt:lpstr>
      <vt:lpstr>Tasks </vt:lpstr>
      <vt:lpstr>Notifications</vt:lpstr>
      <vt:lpstr>Stream Buffers</vt:lpstr>
      <vt:lpstr>Mutexes</vt:lpstr>
      <vt:lpstr>Practice Exercises</vt:lpstr>
      <vt:lpstr>Reference Materials</vt:lpstr>
      <vt:lpstr>Useful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Peterson, Samuel I</dc:creator>
  <cp:lastModifiedBy>Peterson, Samuel I</cp:lastModifiedBy>
  <cp:revision>6</cp:revision>
  <dcterms:created xsi:type="dcterms:W3CDTF">2025-08-15T23:20:03Z</dcterms:created>
  <dcterms:modified xsi:type="dcterms:W3CDTF">2025-08-20T21:43:33Z</dcterms:modified>
</cp:coreProperties>
</file>